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377440"/>
            <a:ext cx="12191695" cy="36576"/>
          </a:xfrm>
          <a:prstGeom prst="rect">
            <a:avLst/>
          </a:prstGeom>
          <a:solidFill>
            <a:srgbClr val="DFB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4480560"/>
            <a:ext cx="12191695" cy="36576"/>
          </a:xfrm>
          <a:prstGeom prst="rect">
            <a:avLst/>
          </a:prstGeom>
          <a:solidFill>
            <a:srgbClr val="E91F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F5F7FA"/>
                </a:solidFill>
                <a:latin typeface="Arial Black"/>
              </a:rPr>
              <a:t>KIT PRIMA SQUADRA 2026/27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2900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1" i="0">
                <a:solidFill>
                  <a:srgbClr val="E91F22"/>
                </a:solidFill>
                <a:latin typeface="Arial Black"/>
              </a:rPr>
              <a:t>NIKE vs ADIDAS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A8B5CC"/>
                </a:solidFill>
                <a:latin typeface="Calibri"/>
              </a:rPr>
              <a:t>Scenario 25 atleti  ·  prezzi reali rilevati 27 giugno 2026  ·  fonte 11teamsports.it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0292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DFB16C"/>
                </a:solidFill>
                <a:latin typeface="Arial Black"/>
              </a:rPr>
              <a:t>Kit gara  |  tuta rappresentanza  |  giacca invernale  |  k-way antivento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DFB16C"/>
                </a:solidFill>
                <a:latin typeface="Arial Black"/>
              </a:rPr>
              <a:t>INDICE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457200" cy="73152"/>
          </a:xfrm>
          <a:prstGeom prst="rect">
            <a:avLst/>
          </a:prstGeom>
          <a:solidFill>
            <a:srgbClr val="DFB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5F7FA"/>
                </a:solidFill>
                <a:latin typeface="Arial Black"/>
              </a:rPr>
              <a:t>Cosa trovi in questa presentazione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640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DFB16C"/>
                </a:solidFill>
                <a:latin typeface="Arial Black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728216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F5F7FA"/>
                </a:solidFill>
                <a:latin typeface="Calibri"/>
              </a:rPr>
              <a:t>Contesto: perche' valutare il cambio brand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1755648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A8B5CC"/>
                </a:solidFill>
                <a:latin typeface="Calibri"/>
              </a:rPr>
              <a:t>1 slide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93392"/>
            <a:ext cx="640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DFB16C"/>
                </a:solidFill>
                <a:latin typeface="Arial Black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029968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F5F7FA"/>
                </a:solidFill>
                <a:latin typeface="Calibri"/>
              </a:rPr>
              <a:t>Trasparenza sconti: dove vengono i prezzi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205740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A8B5CC"/>
                </a:solidFill>
                <a:latin typeface="Calibri"/>
              </a:rPr>
              <a:t>1 slide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95144"/>
            <a:ext cx="640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DFB16C"/>
                </a:solidFill>
                <a:latin typeface="Arial Black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33172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F5F7FA"/>
                </a:solidFill>
                <a:latin typeface="Calibri"/>
              </a:rPr>
              <a:t>Kit gara — Adidas (maglia + short + calze)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2359152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A8B5CC"/>
                </a:solidFill>
                <a:latin typeface="Calibri"/>
              </a:rPr>
              <a:t>1 slide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596896"/>
            <a:ext cx="640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DFB16C"/>
                </a:solidFill>
                <a:latin typeface="Arial Black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633472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F5F7FA"/>
                </a:solidFill>
                <a:latin typeface="Calibri"/>
              </a:rPr>
              <a:t>Kit gara — Nike (maglia + short + calze)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2660904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A8B5CC"/>
                </a:solidFill>
                <a:latin typeface="Calibri"/>
              </a:rPr>
              <a:t>1 slide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898648"/>
            <a:ext cx="640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DFB16C"/>
                </a:solidFill>
                <a:latin typeface="Arial Black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2935224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F5F7FA"/>
                </a:solidFill>
                <a:latin typeface="Calibri"/>
              </a:rPr>
              <a:t>Kit gara — Confronto 25 atleti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2962656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A8B5CC"/>
                </a:solidFill>
                <a:latin typeface="Calibri"/>
              </a:rPr>
              <a:t>1 slide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200400"/>
            <a:ext cx="640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DFB16C"/>
                </a:solidFill>
                <a:latin typeface="Arial Black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236976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F5F7FA"/>
                </a:solidFill>
                <a:latin typeface="Calibri"/>
              </a:rPr>
              <a:t>Tuta rappresentanza — Adidas (felpa + pantalone)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3264408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A8B5CC"/>
                </a:solidFill>
                <a:latin typeface="Calibri"/>
              </a:rPr>
              <a:t>1 slide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502152"/>
            <a:ext cx="640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DFB16C"/>
                </a:solidFill>
                <a:latin typeface="Arial Black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3538728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F5F7FA"/>
                </a:solidFill>
                <a:latin typeface="Calibri"/>
              </a:rPr>
              <a:t>Tuta rappresentanza — Nike (felpa + pantalone)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356616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A8B5CC"/>
                </a:solidFill>
                <a:latin typeface="Calibri"/>
              </a:rPr>
              <a:t>1 slide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3803904"/>
            <a:ext cx="640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DFB16C"/>
                </a:solidFill>
                <a:latin typeface="Arial Black"/>
              </a:rP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384048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F5F7FA"/>
                </a:solidFill>
                <a:latin typeface="Calibri"/>
              </a:rPr>
              <a:t>Tuta — Confronto 25 atleti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3867912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A8B5CC"/>
                </a:solidFill>
                <a:latin typeface="Calibri"/>
              </a:rPr>
              <a:t>1 slide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105656"/>
            <a:ext cx="640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DFB16C"/>
                </a:solidFill>
                <a:latin typeface="Arial Black"/>
              </a:rPr>
              <a:t>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4142232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F5F7FA"/>
                </a:solidFill>
                <a:latin typeface="Calibri"/>
              </a:rPr>
              <a:t>Giacca invernale — Adidas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4169664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A8B5CC"/>
                </a:solidFill>
                <a:latin typeface="Calibri"/>
              </a:rPr>
              <a:t>1 slide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407408"/>
            <a:ext cx="640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DFB16C"/>
                </a:solidFill>
                <a:latin typeface="Arial Black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4443984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F5F7FA"/>
                </a:solidFill>
                <a:latin typeface="Calibri"/>
              </a:rPr>
              <a:t>Giacca invernale — Nike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4471416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A8B5CC"/>
                </a:solidFill>
                <a:latin typeface="Calibri"/>
              </a:rPr>
              <a:t>1 slide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4709160"/>
            <a:ext cx="640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DFB16C"/>
                </a:solidFill>
                <a:latin typeface="Arial Black"/>
              </a:rPr>
              <a:t>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4745736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F5F7FA"/>
                </a:solidFill>
                <a:latin typeface="Calibri"/>
              </a:rPr>
              <a:t>Giacca — Confronto 25 atleti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0" y="4773168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A8B5CC"/>
                </a:solidFill>
                <a:latin typeface="Calibri"/>
              </a:rPr>
              <a:t>1 slide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5010912"/>
            <a:ext cx="640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DFB16C"/>
                </a:solidFill>
                <a:latin typeface="Arial Black"/>
              </a:rPr>
              <a:t>12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1600" y="5047488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F5F7FA"/>
                </a:solidFill>
                <a:latin typeface="Calibri"/>
              </a:rPr>
              <a:t>Antivento k-way — Adidas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0" y="507492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A8B5CC"/>
                </a:solidFill>
                <a:latin typeface="Calibri"/>
              </a:rPr>
              <a:t>1 slide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5312664"/>
            <a:ext cx="640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DFB16C"/>
                </a:solidFill>
                <a:latin typeface="Arial Black"/>
              </a:rPr>
              <a:t>13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71600" y="534924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F5F7FA"/>
                </a:solidFill>
                <a:latin typeface="Calibri"/>
              </a:rPr>
              <a:t>Antivento k-way — Nike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0" y="5376672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A8B5CC"/>
                </a:solidFill>
                <a:latin typeface="Calibri"/>
              </a:rPr>
              <a:t>1 slide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5614416"/>
            <a:ext cx="640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DFB16C"/>
                </a:solidFill>
                <a:latin typeface="Arial Black"/>
              </a:rPr>
              <a:t>14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71600" y="5650992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F5F7FA"/>
                </a:solidFill>
                <a:latin typeface="Calibri"/>
              </a:rPr>
              <a:t>Antivento — Confronto 25 atleti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0" y="5678424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A8B5CC"/>
                </a:solidFill>
                <a:latin typeface="Calibri"/>
              </a:rPr>
              <a:t>1 slide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5916168"/>
            <a:ext cx="640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DFB16C"/>
                </a:solidFill>
                <a:latin typeface="Arial Black"/>
              </a:rPr>
              <a:t>15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71600" y="5952744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F5F7FA"/>
                </a:solidFill>
                <a:latin typeface="Calibri"/>
              </a:rPr>
              <a:t>TOTALE COMPLESSIVO scenari A / B / 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58400" y="5980176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A8B5CC"/>
                </a:solidFill>
                <a:latin typeface="Calibri"/>
              </a:rPr>
              <a:t>1 slide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" y="6217920"/>
            <a:ext cx="640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DFB16C"/>
                </a:solidFill>
                <a:latin typeface="Arial Black"/>
              </a:rPr>
              <a:t>16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71600" y="6254496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F5F7FA"/>
                </a:solidFill>
                <a:latin typeface="Calibri"/>
              </a:rPr>
              <a:t>Note operative + raccomandazione finale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58400" y="6281928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A8B5CC"/>
                </a:solidFill>
                <a:latin typeface="Calibri"/>
              </a:rPr>
              <a:t>1 slide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DFB16C"/>
                </a:solidFill>
                <a:latin typeface="Arial Black"/>
              </a:rPr>
              <a:t>01  ·  CONTESTO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457200" cy="73152"/>
          </a:xfrm>
          <a:prstGeom prst="rect">
            <a:avLst/>
          </a:prstGeom>
          <a:solidFill>
            <a:srgbClr val="DFB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5F7FA"/>
                </a:solidFill>
                <a:latin typeface="Arial Black"/>
              </a:rPr>
              <a:t>Perche' valutare il cambio brand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5F7FA"/>
                </a:solidFill>
                <a:latin typeface="Calibri"/>
              </a:rPr>
              <a:t>OGGI: Joma (fascia mid-low, ottimo rapporto qualita'/prezzo, brand poco riconoscibile fuori dal pro)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DFB16C"/>
                </a:solidFill>
                <a:latin typeface="Calibri"/>
              </a:rPr>
              <a:t>OBIETTIVO: salto di percezione brand → "figurone" famiglie/sponsor/avversari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DFB16C"/>
                </a:solidFill>
                <a:latin typeface="Arial Black"/>
              </a:rPr>
              <a:t>VERDETTO TECNICO PRELIMINARE (dettagli nelle slide successive):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291840"/>
            <a:ext cx="5212080" cy="2286000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3291840"/>
            <a:ext cx="109728" cy="2286000"/>
          </a:xfrm>
          <a:prstGeom prst="rect">
            <a:avLst/>
          </a:prstGeom>
          <a:solidFill>
            <a:srgbClr val="4AC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42900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4AC06E"/>
                </a:solidFill>
                <a:latin typeface="Arial Black"/>
              </a:rPr>
              <a:t>ADIDAS — SI'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840480"/>
            <a:ext cx="50292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F5F7FA"/>
                </a:solidFill>
                <a:latin typeface="Calibri"/>
              </a:rPr>
              <a:t>Striped 24 IW2149 ha colorway Team Navy + Red</a:t>
            </a:r>
          </a:p>
          <a:p>
            <a:pPr algn="l"/>
            <a:r>
              <a:rPr sz="1200" b="0" i="0">
                <a:solidFill>
                  <a:srgbClr val="F5F7FA"/>
                </a:solidFill>
                <a:latin typeface="Calibri"/>
              </a:rPr>
              <a:t>GIA' A CATALOGO standard.</a:t>
            </a:r>
          </a:p>
          <a:p>
            <a:pPr algn="l"/>
            <a:endParaRPr sz="1200" b="0" i="0">
              <a:solidFill>
                <a:srgbClr val="F5F7FA"/>
              </a:solidFill>
              <a:latin typeface="Calibri"/>
            </a:endParaRPr>
          </a:p>
          <a:p>
            <a:pPr algn="l"/>
            <a:r>
              <a:rPr sz="1200" b="0" i="0">
                <a:solidFill>
                  <a:srgbClr val="F5F7FA"/>
                </a:solidFill>
                <a:latin typeface="Calibri"/>
              </a:rPr>
              <a:t>Strisce verticali vere, brand globale.</a:t>
            </a:r>
          </a:p>
          <a:p>
            <a:pPr algn="l"/>
            <a:r>
              <a:rPr sz="1200" b="0" i="0">
                <a:solidFill>
                  <a:srgbClr val="F5F7FA"/>
                </a:solidFill>
                <a:latin typeface="Calibri"/>
              </a:rPr>
              <a:t>Canale: agente Pizzolante Collegno (TO).</a:t>
            </a:r>
          </a:p>
          <a:p>
            <a:pPr algn="l"/>
            <a:endParaRPr sz="1200" b="0" i="0">
              <a:solidFill>
                <a:srgbClr val="F5F7FA"/>
              </a:solidFill>
              <a:latin typeface="Calibri"/>
            </a:endParaRPr>
          </a:p>
          <a:p>
            <a:pPr algn="l"/>
            <a:r>
              <a:rPr sz="1200" b="0" i="0">
                <a:solidFill>
                  <a:srgbClr val="F5F7FA"/>
                </a:solidFill>
                <a:latin typeface="Calibri"/>
              </a:rPr>
              <a:t>Costo +30-50% vs Joma — sostenibile.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291840"/>
            <a:ext cx="5212080" cy="2286000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3291840"/>
            <a:ext cx="109728" cy="2286000"/>
          </a:xfrm>
          <a:prstGeom prst="rect">
            <a:avLst/>
          </a:prstGeom>
          <a:solidFill>
            <a:srgbClr val="E8A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342900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E8A83E"/>
                </a:solidFill>
                <a:latin typeface="Arial Black"/>
              </a:rPr>
              <a:t>NIKE — SI', MA...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840480"/>
            <a:ext cx="50292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F5F7FA"/>
                </a:solidFill>
                <a:latin typeface="Calibri"/>
              </a:rPr>
              <a:t>Striped Division V NON ha navy+rosso a catalogo.</a:t>
            </a:r>
          </a:p>
          <a:p>
            <a:pPr algn="l"/>
            <a:endParaRPr sz="1200" b="0" i="0">
              <a:solidFill>
                <a:srgbClr val="F5F7FA"/>
              </a:solidFill>
              <a:latin typeface="Calibri"/>
            </a:endParaRPr>
          </a:p>
          <a:p>
            <a:pPr algn="l"/>
            <a:r>
              <a:rPr sz="1200" b="0" i="0">
                <a:solidFill>
                  <a:srgbClr val="F5F7FA"/>
                </a:solidFill>
                <a:latin typeface="Calibri"/>
              </a:rPr>
              <a:t>Per colorway esatti serve Nike By You</a:t>
            </a:r>
          </a:p>
          <a:p>
            <a:pPr algn="l"/>
            <a:r>
              <a:rPr sz="1200" b="0" i="0">
                <a:solidFill>
                  <a:srgbClr val="F5F7FA"/>
                </a:solidFill>
                <a:latin typeface="Calibri"/>
              </a:rPr>
              <a:t>Kit Builder via GG Teamwear (custom).</a:t>
            </a:r>
          </a:p>
          <a:p>
            <a:pPr algn="l"/>
            <a:endParaRPr sz="1200" b="0" i="0">
              <a:solidFill>
                <a:srgbClr val="F5F7FA"/>
              </a:solidFill>
              <a:latin typeface="Calibri"/>
            </a:endParaRPr>
          </a:p>
          <a:p>
            <a:pPr algn="l"/>
            <a:r>
              <a:rPr sz="1200" b="0" i="0">
                <a:solidFill>
                  <a:srgbClr val="F5F7FA"/>
                </a:solidFill>
                <a:latin typeface="Calibri"/>
              </a:rPr>
              <a:t>Costo +100-200% vs Joma + lead 30-60 gg.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76072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A8B5CC"/>
                </a:solidFill>
                <a:latin typeface="Calibri"/>
              </a:rPr>
              <a:t>Sotto sono dettagliati TUTTI i pezzi del kit (gara + tuta + invernale + antivento) per 25 atleti.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DFB16C"/>
                </a:solidFill>
                <a:latin typeface="Arial Black"/>
              </a:rPr>
              <a:t>02  ·  TRASPARENZA SCONTI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457200" cy="73152"/>
          </a:xfrm>
          <a:prstGeom prst="rect">
            <a:avLst/>
          </a:prstGeom>
          <a:solidFill>
            <a:srgbClr val="DFB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F5F7FA"/>
                </a:solidFill>
                <a:latin typeface="Arial Black"/>
              </a:rPr>
              <a:t>Da dove vengono i prezzi scontati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5F7FA"/>
                </a:solidFill>
                <a:latin typeface="Calibri"/>
              </a:rPr>
              <a:t>TUTTI i prezzi scontati di questo briefing sono LISTINO PUBBLICO al 27/06/2026 di: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468880"/>
            <a:ext cx="10698480" cy="36576"/>
          </a:xfrm>
          <a:prstGeom prst="rect">
            <a:avLst/>
          </a:prstGeom>
          <a:solidFill>
            <a:srgbClr val="DFB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DFB16C"/>
                </a:solidFill>
                <a:latin typeface="Arial Black"/>
              </a:rPr>
              <a:t>11teamsports.it — rivenditore tedesco con sezione IT, listino pubblico chiaro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F5F7FA"/>
                </a:solidFill>
                <a:latin typeface="Calibri"/>
              </a:rPr>
              <a:t>·  Nike teamwear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297180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A8B5CC"/>
                </a:solidFill>
                <a:latin typeface="Consolas"/>
              </a:rPr>
              <a:t>https://www.11teamsports.com/it-it/teamsport/nike/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64408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F5F7FA"/>
                </a:solidFill>
                <a:latin typeface="Calibri"/>
              </a:rPr>
              <a:t>·  Nike Striped Division V (rossoblu)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326440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A8B5CC"/>
                </a:solidFill>
                <a:latin typeface="Consolas"/>
              </a:rPr>
              <a:t>https://www.11teamsports.com/it-it/teamsport/nike/match/striped-division/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5701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F5F7FA"/>
                </a:solidFill>
                <a:latin typeface="Calibri"/>
              </a:rPr>
              <a:t>·  Nike training (felpe e pantaloni)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355701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A8B5CC"/>
                </a:solidFill>
                <a:latin typeface="Consolas"/>
              </a:rPr>
              <a:t>https://www.11teamsports.com/it-it/teamsport/nike/training/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849624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F5F7FA"/>
                </a:solidFill>
                <a:latin typeface="Calibri"/>
              </a:rPr>
              <a:t>·  Nike giacche invernali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3849624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A8B5CC"/>
                </a:solidFill>
                <a:latin typeface="Consolas"/>
              </a:rPr>
              <a:t>https://www.11teamsports.com/it-it/abbigliamento-sportivo/giacche-invernali/nike/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142232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F5F7FA"/>
                </a:solidFill>
                <a:latin typeface="Calibri"/>
              </a:rPr>
              <a:t>·  Adidas teamwear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414223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A8B5CC"/>
                </a:solidFill>
                <a:latin typeface="Consolas"/>
              </a:rPr>
              <a:t>https://www.11teamsports.com/it-it/teamsport/adidas/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43484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F5F7FA"/>
                </a:solidFill>
                <a:latin typeface="Calibri"/>
              </a:rPr>
              <a:t>·  Adidas Tiro 24/25/26 training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44348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A8B5CC"/>
                </a:solidFill>
                <a:latin typeface="Consolas"/>
              </a:rPr>
              <a:t>https://www.11teamsports.com/it-it/teamsport/adidas/training/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727448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F5F7FA"/>
                </a:solidFill>
                <a:latin typeface="Calibri"/>
              </a:rPr>
              <a:t>·  Adidas giacche invernali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472744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A8B5CC"/>
                </a:solidFill>
                <a:latin typeface="Consolas"/>
              </a:rPr>
              <a:t>https://www.11teamsports.com/it-it/abbigliamento-sportivo/giacche-invernali/adidas/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02005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F5F7FA"/>
                </a:solidFill>
                <a:latin typeface="Calibri"/>
              </a:rPr>
              <a:t>·  Personalizzazione listino TeamSport-iD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502005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A8B5CC"/>
                </a:solidFill>
                <a:latin typeface="Consolas"/>
              </a:rPr>
              <a:t>https://www.teamsport-id.com/servizi-personalizzazione-stampa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5321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E8A83E"/>
                </a:solidFill>
                <a:latin typeface="Arial Black"/>
              </a:rPr>
              <a:t>AVVERTENZE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85216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F5F7FA"/>
                </a:solidFill>
                <a:latin typeface="Calibri"/>
              </a:rPr>
              <a:t>·  Sconti -38/-60% sono saldi estivi CORRENTI — non garantiti se l'ordine slitta a fine luglio/agosto.</a:t>
            </a:r>
          </a:p>
          <a:p>
            <a:pPr algn="l"/>
            <a:r>
              <a:rPr sz="1000" b="0" i="0">
                <a:solidFill>
                  <a:srgbClr val="F5F7FA"/>
                </a:solidFill>
                <a:latin typeface="Calibri"/>
              </a:rPr>
              <a:t>·  Sopra 10 pz scatta sconto volume aggiuntivo (-5/-8%) tipicamente.</a:t>
            </a:r>
          </a:p>
          <a:p>
            <a:pPr algn="l"/>
            <a:r>
              <a:rPr sz="1000" b="0" i="0">
                <a:solidFill>
                  <a:srgbClr val="F5F7FA"/>
                </a:solidFill>
                <a:latin typeface="Calibri"/>
              </a:rPr>
              <a:t>·  Per 25 atleti chiamare prima per verificare disponibilita' taglie e colori e chiedere quotazione B2B.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DFB16C"/>
                </a:solidFill>
                <a:latin typeface="Arial Black"/>
              </a:rPr>
              <a:t>03  ·  KIT GARA  ·  ADIDAS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457200" cy="73152"/>
          </a:xfrm>
          <a:prstGeom prst="rect">
            <a:avLst/>
          </a:prstGeom>
          <a:solidFill>
            <a:srgbClr val="DFB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5F7FA"/>
                </a:solidFill>
                <a:latin typeface="Arial Black"/>
              </a:rPr>
              <a:t>Kit gara — Adidas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9098280" cy="45720"/>
          </a:xfrm>
          <a:prstGeom prst="rect">
            <a:avLst/>
          </a:prstGeom>
          <a:solidFill>
            <a:srgbClr val="4AC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490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4AC06E"/>
                </a:solidFill>
                <a:latin typeface="Arial Black"/>
              </a:rPr>
              <a:t>STRISCE VERTICALI ROSSOBLU (RACCOMANDATO)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746504"/>
            <a:ext cx="8823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F5F7FA"/>
                </a:solidFill>
                <a:latin typeface="Calibri"/>
              </a:rPr>
              <a:t>Striped 24 + Squadra 25 short + Adisock 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65960"/>
            <a:ext cx="8823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1">
                <a:solidFill>
                  <a:srgbClr val="A8B5CC"/>
                </a:solidFill>
                <a:latin typeface="Calibri"/>
              </a:rPr>
              <a:t>Strisce verticali vere — colorway Team Navy + Red (IW2149)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2167128"/>
            <a:ext cx="96012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23544" y="2212848"/>
            <a:ext cx="868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Capo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74520" y="2167128"/>
            <a:ext cx="269748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29384" y="2212848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Modello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17720" y="2167128"/>
            <a:ext cx="214884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72584" y="2212848"/>
            <a:ext cx="2057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Codice/Colorway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12280" y="2167128"/>
            <a:ext cx="123444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67144" y="2212848"/>
            <a:ext cx="1143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Listino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92440" y="2167128"/>
            <a:ext cx="123444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47304" y="2212848"/>
            <a:ext cx="1143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Scontato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" y="2404872"/>
            <a:ext cx="96012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3544" y="2450592"/>
            <a:ext cx="868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Maglia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74520" y="2404872"/>
            <a:ext cx="269748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929384" y="2450592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Adidas Striped 24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17720" y="2404872"/>
            <a:ext cx="214884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72584" y="2450592"/>
            <a:ext cx="2057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IW2149 (Team Navy + Red)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12280" y="2404872"/>
            <a:ext cx="123444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67144" y="2450592"/>
            <a:ext cx="1143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A8B5CC"/>
                </a:solidFill>
                <a:latin typeface="Calibri"/>
              </a:rPr>
              <a:t>29,95 EUR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92440" y="2404872"/>
            <a:ext cx="123444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147304" y="2450592"/>
            <a:ext cx="1143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4AC06E"/>
                </a:solidFill>
                <a:latin typeface="Calibri"/>
              </a:rPr>
              <a:t>18,56 EUR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8680" y="2642616"/>
            <a:ext cx="96012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23544" y="2688336"/>
            <a:ext cx="868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Pantaloncino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74520" y="2642616"/>
            <a:ext cx="269748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929384" y="2688336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Adidas Squadra 25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17720" y="2642616"/>
            <a:ext cx="214884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672584" y="2688336"/>
            <a:ext cx="2057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JH3413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12280" y="2642616"/>
            <a:ext cx="123444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867144" y="2688336"/>
            <a:ext cx="1143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A8B5CC"/>
                </a:solidFill>
                <a:latin typeface="Calibri"/>
              </a:rPr>
              <a:t>22,95 EUR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92440" y="2642616"/>
            <a:ext cx="123444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147304" y="2688336"/>
            <a:ext cx="1143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4AC06E"/>
                </a:solidFill>
                <a:latin typeface="Calibri"/>
              </a:rPr>
              <a:t>14,25 EUR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8680" y="2880360"/>
            <a:ext cx="96012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3544" y="2926080"/>
            <a:ext cx="868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Calzettoni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874520" y="2880360"/>
            <a:ext cx="269748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929384" y="2926080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Adidas Adisock 23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17720" y="2880360"/>
            <a:ext cx="214884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672584" y="2926080"/>
            <a:ext cx="2057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var. rosso/navy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12280" y="2880360"/>
            <a:ext cx="123444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867144" y="2926080"/>
            <a:ext cx="1143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A8B5CC"/>
                </a:solidFill>
                <a:latin typeface="Calibri"/>
              </a:rPr>
              <a:t>14,95 EUR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92440" y="2880360"/>
            <a:ext cx="123444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147304" y="2926080"/>
            <a:ext cx="1143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4AC06E"/>
                </a:solidFill>
                <a:latin typeface="Calibri"/>
              </a:rPr>
              <a:t>9,27 EUR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68680" y="3118104"/>
            <a:ext cx="8458200" cy="237744"/>
          </a:xfrm>
          <a:prstGeom prst="rect">
            <a:avLst/>
          </a:prstGeom>
          <a:solidFill>
            <a:srgbClr val="4AC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60120" y="3163824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1428"/>
                </a:solidFill>
                <a:latin typeface="Arial Black"/>
              </a:rPr>
              <a:t>TOTALE 1 ATLETA  (Adidas)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12280" y="3163824"/>
            <a:ext cx="1143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1428"/>
                </a:solidFill>
                <a:latin typeface="Calibri"/>
              </a:rPr>
              <a:t>67,85 EUR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92440" y="3163824"/>
            <a:ext cx="1143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1428"/>
                </a:solidFill>
                <a:latin typeface="Calibri"/>
              </a:rPr>
              <a:t>42,08 EUR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802368" y="1417320"/>
            <a:ext cx="1792224" cy="193852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5" name="Picture 54" descr="kit_01_adidas_striped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508760"/>
            <a:ext cx="1645920" cy="1755648"/>
          </a:xfrm>
          <a:prstGeom prst="rect">
            <a:avLst/>
          </a:prstGeom>
        </p:spPr>
      </p:pic>
      <p:sp>
        <p:nvSpPr>
          <p:cNvPr id="56" name="Rectangle 55"/>
          <p:cNvSpPr/>
          <p:nvPr/>
        </p:nvSpPr>
        <p:spPr>
          <a:xfrm>
            <a:off x="731520" y="3493008"/>
            <a:ext cx="9098280" cy="45720"/>
          </a:xfrm>
          <a:prstGeom prst="rect">
            <a:avLst/>
          </a:prstGeom>
          <a:solidFill>
            <a:srgbClr val="E8A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68680" y="356616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E8A83E"/>
                </a:solidFill>
                <a:latin typeface="Arial Black"/>
              </a:rPr>
              <a:t>ENTRY ECONOMICO (tinta unita)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8680" y="3822192"/>
            <a:ext cx="8823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F5F7FA"/>
                </a:solidFill>
                <a:latin typeface="Calibri"/>
              </a:rPr>
              <a:t>Squadra 25 + Squadra 25 short + Milano 23 calze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8680" y="4041648"/>
            <a:ext cx="8823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1">
                <a:solidFill>
                  <a:srgbClr val="A8B5CC"/>
                </a:solidFill>
                <a:latin typeface="Calibri"/>
              </a:rPr>
              <a:t>Tinta unita, niente strisce verticali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68680" y="4242816"/>
            <a:ext cx="96012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23544" y="4288536"/>
            <a:ext cx="868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Capo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874520" y="4242816"/>
            <a:ext cx="269748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929384" y="4288536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Modello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617720" y="4242816"/>
            <a:ext cx="214884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672584" y="4288536"/>
            <a:ext cx="2057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Codice/Colorway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812280" y="4242816"/>
            <a:ext cx="123444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867144" y="4288536"/>
            <a:ext cx="1143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Listino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092440" y="4242816"/>
            <a:ext cx="123444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147304" y="4288536"/>
            <a:ext cx="1143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Scontato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68680" y="4480560"/>
            <a:ext cx="96012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923544" y="4526280"/>
            <a:ext cx="868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Maglia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74520" y="4480560"/>
            <a:ext cx="269748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1929384" y="4526280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Adidas Squadra 25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617720" y="4480560"/>
            <a:ext cx="214884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672584" y="4526280"/>
            <a:ext cx="2057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var. blu/rosso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812280" y="4480560"/>
            <a:ext cx="123444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6867144" y="4526280"/>
            <a:ext cx="1143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A8B5CC"/>
                </a:solidFill>
                <a:latin typeface="Calibri"/>
              </a:rPr>
              <a:t>22,95 EUR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092440" y="4480560"/>
            <a:ext cx="123444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147304" y="4526280"/>
            <a:ext cx="1143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4AC06E"/>
                </a:solidFill>
                <a:latin typeface="Calibri"/>
              </a:rPr>
              <a:t>14,25 EUR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68680" y="4718304"/>
            <a:ext cx="96012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923544" y="4764024"/>
            <a:ext cx="868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Pantaloncino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874520" y="4718304"/>
            <a:ext cx="269748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1929384" y="4764024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Adidas Squadra 25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617720" y="4718304"/>
            <a:ext cx="214884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4672584" y="4764024"/>
            <a:ext cx="2057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JH3413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812280" y="4718304"/>
            <a:ext cx="123444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867144" y="4764024"/>
            <a:ext cx="1143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A8B5CC"/>
                </a:solidFill>
                <a:latin typeface="Calibri"/>
              </a:rPr>
              <a:t>22,95 EUR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092440" y="4718304"/>
            <a:ext cx="123444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8147304" y="4764024"/>
            <a:ext cx="1143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4AC06E"/>
                </a:solidFill>
                <a:latin typeface="Calibri"/>
              </a:rPr>
              <a:t>14,25 EUR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68680" y="4956048"/>
            <a:ext cx="96012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923544" y="5001768"/>
            <a:ext cx="868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Calzettoni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874520" y="4956048"/>
            <a:ext cx="269748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1929384" y="5001768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Adidas Milano 23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17720" y="4956048"/>
            <a:ext cx="214884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4672584" y="5001768"/>
            <a:ext cx="2057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var. rosso/navy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812280" y="4956048"/>
            <a:ext cx="123444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6867144" y="5001768"/>
            <a:ext cx="1143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A8B5CC"/>
                </a:solidFill>
                <a:latin typeface="Calibri"/>
              </a:rPr>
              <a:t>9,95 EUR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092440" y="4956048"/>
            <a:ext cx="123444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8147304" y="5001768"/>
            <a:ext cx="1143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4AC06E"/>
                </a:solidFill>
                <a:latin typeface="Calibri"/>
              </a:rPr>
              <a:t>6,17 EUR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68680" y="5193792"/>
            <a:ext cx="8458200" cy="237744"/>
          </a:xfrm>
          <a:prstGeom prst="rect">
            <a:avLst/>
          </a:prstGeom>
          <a:solidFill>
            <a:srgbClr val="E8A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960120" y="5239512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1428"/>
                </a:solidFill>
                <a:latin typeface="Arial Black"/>
              </a:rPr>
              <a:t>TOTALE 1 ATLETA  (Adidas)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812280" y="5239512"/>
            <a:ext cx="1143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1428"/>
                </a:solidFill>
                <a:latin typeface="Calibri"/>
              </a:rPr>
              <a:t>55,85 EUR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092440" y="5239512"/>
            <a:ext cx="1143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1428"/>
                </a:solidFill>
                <a:latin typeface="Calibri"/>
              </a:rPr>
              <a:t>34,67 EUR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802368" y="3493008"/>
            <a:ext cx="1792224" cy="193852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5" name="Picture 104" descr="kit_02_adidas_squadra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3584448"/>
            <a:ext cx="1645920" cy="17556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DFB16C"/>
                </a:solidFill>
                <a:latin typeface="Arial Black"/>
              </a:rPr>
              <a:t>04  ·  KIT GARA  ·  NIKE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457200" cy="73152"/>
          </a:xfrm>
          <a:prstGeom prst="rect">
            <a:avLst/>
          </a:prstGeom>
          <a:solidFill>
            <a:srgbClr val="DFB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5F7FA"/>
                </a:solidFill>
                <a:latin typeface="Arial Black"/>
              </a:rPr>
              <a:t>Kit gara — Nike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9098280" cy="45720"/>
          </a:xfrm>
          <a:prstGeom prst="rect">
            <a:avLst/>
          </a:prstGeom>
          <a:solidFill>
            <a:srgbClr val="E8A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490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E8A83E"/>
                </a:solidFill>
                <a:latin typeface="Arial Black"/>
              </a:rPr>
              <a:t>STRISCE VERTICALI (colorway navy+rosso NON a catalogo)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746504"/>
            <a:ext cx="8823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F5F7FA"/>
                </a:solidFill>
                <a:latin typeface="Calibri"/>
              </a:rPr>
              <a:t>Striped Division V + Park III short + Matchfit calze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65960"/>
            <a:ext cx="8823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1">
                <a:solidFill>
                  <a:srgbClr val="A8B5CC"/>
                </a:solidFill>
                <a:latin typeface="Calibri"/>
              </a:rPr>
              <a:t>Strisce verticali — disponibili solo Red/Black, Royal/Black, College Navy/Black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2167128"/>
            <a:ext cx="96012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23544" y="2212848"/>
            <a:ext cx="868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Capo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74520" y="2167128"/>
            <a:ext cx="269748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29384" y="2212848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Modello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17720" y="2167128"/>
            <a:ext cx="214884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72584" y="2212848"/>
            <a:ext cx="2057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Codice/Colorway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12280" y="2167128"/>
            <a:ext cx="123444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67144" y="2212848"/>
            <a:ext cx="1143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Listino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92440" y="2167128"/>
            <a:ext cx="123444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47304" y="2212848"/>
            <a:ext cx="1143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Scontato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" y="2404872"/>
            <a:ext cx="96012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3544" y="2450592"/>
            <a:ext cx="868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Maglia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74520" y="2404872"/>
            <a:ext cx="269748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929384" y="2450592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Nike Dri-FIT Striped Division V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17720" y="2404872"/>
            <a:ext cx="214884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72584" y="2450592"/>
            <a:ext cx="2057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CW3813 (Red/Black o Navy/Black)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12280" y="2404872"/>
            <a:ext cx="123444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67144" y="2450592"/>
            <a:ext cx="1143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A8B5CC"/>
                </a:solidFill>
                <a:latin typeface="Calibri"/>
              </a:rPr>
              <a:t>32,95 EUR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92440" y="2404872"/>
            <a:ext cx="123444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147304" y="2450592"/>
            <a:ext cx="1143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4AC06E"/>
                </a:solidFill>
                <a:latin typeface="Calibri"/>
              </a:rPr>
              <a:t>20,42 EUR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8680" y="2642616"/>
            <a:ext cx="96012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23544" y="2688336"/>
            <a:ext cx="868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Pantaloncino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74520" y="2642616"/>
            <a:ext cx="269748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929384" y="2688336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Nike Park III Short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17720" y="2642616"/>
            <a:ext cx="214884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672584" y="2688336"/>
            <a:ext cx="2057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BV6855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12280" y="2642616"/>
            <a:ext cx="123444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867144" y="2688336"/>
            <a:ext cx="1143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A8B5CC"/>
                </a:solidFill>
                <a:latin typeface="Calibri"/>
              </a:rPr>
              <a:t>17,95 EUR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92440" y="2642616"/>
            <a:ext cx="123444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147304" y="2688336"/>
            <a:ext cx="1143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4AC06E"/>
                </a:solidFill>
                <a:latin typeface="Calibri"/>
              </a:rPr>
              <a:t>11,12 EUR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8680" y="2880360"/>
            <a:ext cx="96012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3544" y="2926080"/>
            <a:ext cx="868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Calzettoni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874520" y="2880360"/>
            <a:ext cx="269748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929384" y="2926080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Nike Matchfit OTC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17720" y="2880360"/>
            <a:ext cx="214884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672584" y="2926080"/>
            <a:ext cx="2057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var. rosso/navy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12280" y="2880360"/>
            <a:ext cx="123444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867144" y="2926080"/>
            <a:ext cx="1143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A8B5CC"/>
                </a:solidFill>
                <a:latin typeface="Calibri"/>
              </a:rPr>
              <a:t>14,95 EUR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92440" y="2880360"/>
            <a:ext cx="123444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147304" y="2926080"/>
            <a:ext cx="1143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4AC06E"/>
                </a:solidFill>
                <a:latin typeface="Calibri"/>
              </a:rPr>
              <a:t>6,52 EUR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68680" y="3118104"/>
            <a:ext cx="8458200" cy="237744"/>
          </a:xfrm>
          <a:prstGeom prst="rect">
            <a:avLst/>
          </a:prstGeom>
          <a:solidFill>
            <a:srgbClr val="E8A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60120" y="3163824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1428"/>
                </a:solidFill>
                <a:latin typeface="Arial Black"/>
              </a:rPr>
              <a:t>TOTALE 1 ATLETA  (Nike)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12280" y="3163824"/>
            <a:ext cx="1143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1428"/>
                </a:solidFill>
                <a:latin typeface="Calibri"/>
              </a:rPr>
              <a:t>65,85 EUR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92440" y="3163824"/>
            <a:ext cx="1143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1428"/>
                </a:solidFill>
                <a:latin typeface="Calibri"/>
              </a:rPr>
              <a:t>38,06 EUR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802368" y="1417320"/>
            <a:ext cx="1792224" cy="193852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5" name="Picture 54" descr="kit_04_nike_striped_division_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508760"/>
            <a:ext cx="1645920" cy="1755648"/>
          </a:xfrm>
          <a:prstGeom prst="rect">
            <a:avLst/>
          </a:prstGeom>
        </p:spPr>
      </p:pic>
      <p:sp>
        <p:nvSpPr>
          <p:cNvPr id="56" name="Rectangle 55"/>
          <p:cNvSpPr/>
          <p:nvPr/>
        </p:nvSpPr>
        <p:spPr>
          <a:xfrm>
            <a:off x="731520" y="3493008"/>
            <a:ext cx="9098280" cy="45720"/>
          </a:xfrm>
          <a:prstGeom prst="rect">
            <a:avLst/>
          </a:prstGeom>
          <a:solidFill>
            <a:srgbClr val="4AC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68680" y="356616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4AC06E"/>
                </a:solidFill>
                <a:latin typeface="Arial Black"/>
              </a:rPr>
              <a:t>BICOLORE ROSSOBLU (Park Derby IV, NON a strisce verticali)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8680" y="3822192"/>
            <a:ext cx="8823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F5F7FA"/>
                </a:solidFill>
                <a:latin typeface="Calibri"/>
              </a:rPr>
              <a:t>Park Derby IV + Park III short + Matchfit calze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8680" y="4041648"/>
            <a:ext cx="8823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1">
                <a:solidFill>
                  <a:srgbClr val="A8B5CC"/>
                </a:solidFill>
                <a:latin typeface="Calibri"/>
              </a:rPr>
              <a:t>Design bicolore a pannelli — colorway University Red/Midnight Navy (FD7430-658)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68680" y="4242816"/>
            <a:ext cx="96012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23544" y="4288536"/>
            <a:ext cx="868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Capo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874520" y="4242816"/>
            <a:ext cx="269748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929384" y="4288536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Modello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617720" y="4242816"/>
            <a:ext cx="214884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672584" y="4288536"/>
            <a:ext cx="2057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Codice/Colorway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812280" y="4242816"/>
            <a:ext cx="123444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867144" y="4288536"/>
            <a:ext cx="1143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Listino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092440" y="4242816"/>
            <a:ext cx="123444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147304" y="4288536"/>
            <a:ext cx="1143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Scontato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68680" y="4480560"/>
            <a:ext cx="96012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923544" y="4526280"/>
            <a:ext cx="868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Maglia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74520" y="4480560"/>
            <a:ext cx="269748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1929384" y="4526280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Nike Park Derby IV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617720" y="4480560"/>
            <a:ext cx="214884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672584" y="4526280"/>
            <a:ext cx="2057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FD7430-658 (Red/Navy/White)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812280" y="4480560"/>
            <a:ext cx="123444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6867144" y="4526280"/>
            <a:ext cx="1143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A8B5CC"/>
                </a:solidFill>
                <a:latin typeface="Calibri"/>
              </a:rPr>
              <a:t>24,95 EUR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092440" y="4480560"/>
            <a:ext cx="123444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147304" y="4526280"/>
            <a:ext cx="1143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4AC06E"/>
                </a:solidFill>
                <a:latin typeface="Calibri"/>
              </a:rPr>
              <a:t>15,46 EUR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68680" y="4718304"/>
            <a:ext cx="96012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923544" y="4764024"/>
            <a:ext cx="868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Pantaloncino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874520" y="4718304"/>
            <a:ext cx="269748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1929384" y="4764024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Nike Park III Short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617720" y="4718304"/>
            <a:ext cx="214884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4672584" y="4764024"/>
            <a:ext cx="2057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BV6855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812280" y="4718304"/>
            <a:ext cx="123444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867144" y="4764024"/>
            <a:ext cx="1143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A8B5CC"/>
                </a:solidFill>
                <a:latin typeface="Calibri"/>
              </a:rPr>
              <a:t>17,95 EUR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092440" y="4718304"/>
            <a:ext cx="123444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8147304" y="4764024"/>
            <a:ext cx="1143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4AC06E"/>
                </a:solidFill>
                <a:latin typeface="Calibri"/>
              </a:rPr>
              <a:t>11,12 EUR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68680" y="4956048"/>
            <a:ext cx="96012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923544" y="5001768"/>
            <a:ext cx="868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Calzettoni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874520" y="4956048"/>
            <a:ext cx="269748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1929384" y="5001768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Nike Matchfit OTC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17720" y="4956048"/>
            <a:ext cx="214884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4672584" y="5001768"/>
            <a:ext cx="2057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var. rosso/navy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812280" y="4956048"/>
            <a:ext cx="123444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6867144" y="5001768"/>
            <a:ext cx="1143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A8B5CC"/>
                </a:solidFill>
                <a:latin typeface="Calibri"/>
              </a:rPr>
              <a:t>14,95 EUR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092440" y="4956048"/>
            <a:ext cx="123444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8147304" y="5001768"/>
            <a:ext cx="1143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4AC06E"/>
                </a:solidFill>
                <a:latin typeface="Calibri"/>
              </a:rPr>
              <a:t>6,52 EUR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68680" y="5193792"/>
            <a:ext cx="8458200" cy="237744"/>
          </a:xfrm>
          <a:prstGeom prst="rect">
            <a:avLst/>
          </a:prstGeom>
          <a:solidFill>
            <a:srgbClr val="4AC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960120" y="5239512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1428"/>
                </a:solidFill>
                <a:latin typeface="Arial Black"/>
              </a:rPr>
              <a:t>TOTALE 1 ATLETA  (Nike)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812280" y="5239512"/>
            <a:ext cx="1143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1428"/>
                </a:solidFill>
                <a:latin typeface="Calibri"/>
              </a:rPr>
              <a:t>57,85 EUR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092440" y="5239512"/>
            <a:ext cx="1143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1428"/>
                </a:solidFill>
                <a:latin typeface="Calibri"/>
              </a:rPr>
              <a:t>33,10 EUR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802368" y="3493008"/>
            <a:ext cx="1792224" cy="193852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5" name="Picture 104" descr="kit_03_nike_park_derby_i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3584448"/>
            <a:ext cx="1645920" cy="17556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DFB16C"/>
                </a:solidFill>
                <a:latin typeface="Arial Black"/>
              </a:rPr>
              <a:t>05  ·  KIT GARA  ·  CONFRONTO 25 ATLETI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457200" cy="73152"/>
          </a:xfrm>
          <a:prstGeom prst="rect">
            <a:avLst/>
          </a:prstGeom>
          <a:solidFill>
            <a:srgbClr val="DFB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F5F7FA"/>
                </a:solidFill>
                <a:latin typeface="Arial Black"/>
              </a:rPr>
              <a:t>Kit gara — totale per 25 atleti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83080"/>
            <a:ext cx="1051560" cy="411480"/>
          </a:xfrm>
          <a:prstGeom prst="rect">
            <a:avLst/>
          </a:prstGeom>
          <a:solidFill>
            <a:srgbClr val="DFB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901952"/>
            <a:ext cx="9509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0A1428"/>
                </a:solidFill>
                <a:latin typeface="Arial Black"/>
              </a:rPr>
              <a:t>Brand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1783080"/>
            <a:ext cx="4069080" cy="411480"/>
          </a:xfrm>
          <a:prstGeom prst="rect">
            <a:avLst/>
          </a:prstGeom>
          <a:solidFill>
            <a:srgbClr val="DFB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901952" y="1901952"/>
            <a:ext cx="39684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0A1428"/>
                </a:solidFill>
                <a:latin typeface="Arial Black"/>
              </a:rPr>
              <a:t>Opzione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783080"/>
            <a:ext cx="1783080" cy="411480"/>
          </a:xfrm>
          <a:prstGeom prst="rect">
            <a:avLst/>
          </a:prstGeom>
          <a:solidFill>
            <a:srgbClr val="DFB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16752" y="1901952"/>
            <a:ext cx="16824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0A1428"/>
                </a:solidFill>
                <a:latin typeface="Arial Black"/>
              </a:rPr>
              <a:t>Capo singolo (scontato)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1783080"/>
            <a:ext cx="777240" cy="411480"/>
          </a:xfrm>
          <a:prstGeom prst="rect">
            <a:avLst/>
          </a:prstGeom>
          <a:solidFill>
            <a:srgbClr val="DFB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45552" y="1901952"/>
            <a:ext cx="6766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0A1428"/>
                </a:solidFill>
                <a:latin typeface="Arial Black"/>
              </a:rPr>
              <a:t>+Pers.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95360" y="1783080"/>
            <a:ext cx="1234440" cy="411480"/>
          </a:xfrm>
          <a:prstGeom prst="rect">
            <a:avLst/>
          </a:prstGeom>
          <a:solidFill>
            <a:srgbClr val="DFB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68512" y="1901952"/>
            <a:ext cx="11338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0A1428"/>
                </a:solidFill>
                <a:latin typeface="Arial Black"/>
              </a:rPr>
              <a:t>1 atleta tot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75520" y="1783080"/>
            <a:ext cx="2240280" cy="411480"/>
          </a:xfrm>
          <a:prstGeom prst="rect">
            <a:avLst/>
          </a:prstGeom>
          <a:solidFill>
            <a:srgbClr val="DFB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948672" y="1901952"/>
            <a:ext cx="21396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0A1428"/>
                </a:solidFill>
                <a:latin typeface="Arial Black"/>
              </a:rPr>
              <a:t>25 ATLETI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194560"/>
            <a:ext cx="1051560" cy="411480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" y="2249424"/>
            <a:ext cx="95097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4AC06E"/>
                </a:solidFill>
                <a:latin typeface="Calibri"/>
              </a:rPr>
              <a:t>Nike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0" y="2194560"/>
            <a:ext cx="4069080" cy="411480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901952" y="2249424"/>
            <a:ext cx="39684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BICOLORE ROSSOBLU (Park Derby IV, NON a strisce verticali)</a:t>
            </a:r>
          </a:p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Park Derby IV + Park III short + Matchfit calze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2194560"/>
            <a:ext cx="1783080" cy="411480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16752" y="2249424"/>
            <a:ext cx="16824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33,10 EUR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0" y="2194560"/>
            <a:ext cx="777240" cy="411480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845552" y="2249424"/>
            <a:ext cx="67665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9,50 EUR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95360" y="2194560"/>
            <a:ext cx="1234440" cy="411480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68512" y="2249424"/>
            <a:ext cx="113385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42,60 EUR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75520" y="2194560"/>
            <a:ext cx="2240280" cy="411480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948672" y="2249424"/>
            <a:ext cx="21396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4AC06E"/>
                </a:solidFill>
                <a:latin typeface="Calibri"/>
              </a:rPr>
              <a:t>1.065,00 EUR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2606040"/>
            <a:ext cx="1051560" cy="41148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4672" y="2660904"/>
            <a:ext cx="95097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E8A83E"/>
                </a:solidFill>
                <a:latin typeface="Calibri"/>
              </a:rPr>
              <a:t>Adidas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0" y="2606040"/>
            <a:ext cx="4069080" cy="41148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901952" y="2660904"/>
            <a:ext cx="39684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ENTRY ECONOMICO (tinta unita)</a:t>
            </a:r>
          </a:p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Squadra 25 + Squadra 25 short + Milano 23 calze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0" y="2606040"/>
            <a:ext cx="1783080" cy="41148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016752" y="2660904"/>
            <a:ext cx="16824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34,67 EUR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0" y="2606040"/>
            <a:ext cx="777240" cy="41148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845552" y="2660904"/>
            <a:ext cx="67665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9,50 EUR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95360" y="2606040"/>
            <a:ext cx="1234440" cy="41148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668512" y="2660904"/>
            <a:ext cx="113385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44,17 EUR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875520" y="2606040"/>
            <a:ext cx="2240280" cy="41148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948672" y="2660904"/>
            <a:ext cx="21396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DFB16C"/>
                </a:solidFill>
                <a:latin typeface="Calibri"/>
              </a:rPr>
              <a:t>1.104,25 EUR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" y="3017520"/>
            <a:ext cx="1051560" cy="411480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04672" y="3072384"/>
            <a:ext cx="95097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E8A83E"/>
                </a:solidFill>
                <a:latin typeface="Calibri"/>
              </a:rPr>
              <a:t>Nike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828800" y="3017520"/>
            <a:ext cx="4069080" cy="411480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901952" y="3072384"/>
            <a:ext cx="39684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STRISCE VERTICALI (colorway navy+rosso NON a catalogo)</a:t>
            </a:r>
          </a:p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Striped Division V + Park III short + Matchfit calze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43600" y="3017520"/>
            <a:ext cx="1783080" cy="411480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016752" y="3072384"/>
            <a:ext cx="16824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38,06 EUR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72400" y="3017520"/>
            <a:ext cx="777240" cy="411480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845552" y="3072384"/>
            <a:ext cx="67665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9,50 EUR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595360" y="3017520"/>
            <a:ext cx="1234440" cy="411480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668512" y="3072384"/>
            <a:ext cx="113385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47,56 EUR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875520" y="3017520"/>
            <a:ext cx="2240280" cy="411480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948672" y="3072384"/>
            <a:ext cx="21396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5F7FA"/>
                </a:solidFill>
                <a:latin typeface="Calibri"/>
              </a:rPr>
              <a:t>1.189,00 EUR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31520" y="3429000"/>
            <a:ext cx="1051560" cy="41148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04672" y="3483864"/>
            <a:ext cx="95097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4AC06E"/>
                </a:solidFill>
                <a:latin typeface="Calibri"/>
              </a:rPr>
              <a:t>Adidas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0" y="3429000"/>
            <a:ext cx="4069080" cy="41148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901952" y="3483864"/>
            <a:ext cx="39684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STRISCE VERTICALI ROSSOBLU (RACCOMANDATO)</a:t>
            </a:r>
          </a:p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Striped 24 + Squadra 25 short + Adisock 23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943600" y="3429000"/>
            <a:ext cx="1783080" cy="41148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016752" y="3483864"/>
            <a:ext cx="16824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42,08 EUR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772400" y="3429000"/>
            <a:ext cx="777240" cy="41148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845552" y="3483864"/>
            <a:ext cx="67665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9,50 EUR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595360" y="3429000"/>
            <a:ext cx="1234440" cy="41148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668512" y="3483864"/>
            <a:ext cx="113385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51,58 EUR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875520" y="3429000"/>
            <a:ext cx="2240280" cy="41148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948672" y="3483864"/>
            <a:ext cx="21396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5F7FA"/>
                </a:solidFill>
                <a:latin typeface="Calibri"/>
              </a:rPr>
              <a:t>1.289,50 EUR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1520" y="411480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A8B5CC"/>
                </a:solidFill>
                <a:latin typeface="Calibri"/>
              </a:rPr>
              <a:t>Personalizzazione standard inclusa: logo Orbassano + nome + numero = 9,50 EUR/atleta. Costo impianto ricamo logo (una tantum) escluso (~30 EUR).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1520" y="438912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A8B5CC"/>
                </a:solidFill>
                <a:latin typeface="Calibri"/>
              </a:rPr>
              <a:t>VERDE = soluzione piu' economica  ·  ORO = secondo miglior prezzo  ·  Riga top = ranking ascending per costo totale 25 atleti.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DFB16C"/>
                </a:solidFill>
                <a:latin typeface="Arial Black"/>
              </a:rPr>
              <a:t>06  ·  TUTA RAPPRESENTANZA  ·  ADIDAS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457200" cy="73152"/>
          </a:xfrm>
          <a:prstGeom prst="rect">
            <a:avLst/>
          </a:prstGeom>
          <a:solidFill>
            <a:srgbClr val="DFB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5F7FA"/>
                </a:solidFill>
                <a:latin typeface="Arial Black"/>
              </a:rPr>
              <a:t>Tuta rappresentanza — Adidas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789920" cy="45720"/>
          </a:xfrm>
          <a:prstGeom prst="rect">
            <a:avLst/>
          </a:prstGeom>
          <a:solidFill>
            <a:srgbClr val="4AC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490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4AC06E"/>
                </a:solidFill>
                <a:latin typeface="Arial Black"/>
              </a:rPr>
              <a:t>ENTRY ECONOMICO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746504"/>
            <a:ext cx="10515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F5F7FA"/>
                </a:solidFill>
                <a:latin typeface="Calibri"/>
              </a:rPr>
              <a:t>Entrada 26 Training Top + Pant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984248"/>
            <a:ext cx="114300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23544" y="2029968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Capo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57400" y="1984248"/>
            <a:ext cx="342900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112264" y="2029968"/>
            <a:ext cx="3337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Modello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32120" y="1984248"/>
            <a:ext cx="269748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586984" y="2029968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Codice/Colorway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75320" y="1984248"/>
            <a:ext cx="150876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30184" y="2029968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Listino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829800" y="1984248"/>
            <a:ext cx="150876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884664" y="2029968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Scontato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2221992"/>
            <a:ext cx="114300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3544" y="2267712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Felpa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57400" y="2221992"/>
            <a:ext cx="342900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112264" y="2267712"/>
            <a:ext cx="3337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Adidas Entrada 26 Training Top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32120" y="2221992"/>
            <a:ext cx="269748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586984" y="2267712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var. blu/rosso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75320" y="2221992"/>
            <a:ext cx="150876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30184" y="2267712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A8B5CC"/>
                </a:solidFill>
                <a:latin typeface="Calibri"/>
              </a:rPr>
              <a:t>44,95 EUR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29800" y="2221992"/>
            <a:ext cx="150876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884664" y="2267712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4AC06E"/>
                </a:solidFill>
                <a:latin typeface="Calibri"/>
              </a:rPr>
              <a:t>27,88 EUR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8680" y="2459736"/>
            <a:ext cx="114300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23544" y="2505456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Pantalone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57400" y="2459736"/>
            <a:ext cx="342900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112264" y="2505456"/>
            <a:ext cx="3337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Adidas Entrada 26 Pant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32120" y="2459736"/>
            <a:ext cx="269748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586984" y="2505456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JY7230 (blu scuro)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75320" y="2459736"/>
            <a:ext cx="150876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330184" y="2505456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A8B5CC"/>
                </a:solidFill>
                <a:latin typeface="Calibri"/>
              </a:rPr>
              <a:t>44,95 EUR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29800" y="2459736"/>
            <a:ext cx="150876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884664" y="2505456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4AC06E"/>
                </a:solidFill>
                <a:latin typeface="Calibri"/>
              </a:rPr>
              <a:t>27,91 EUR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68680" y="2697480"/>
            <a:ext cx="10469880" cy="237744"/>
          </a:xfrm>
          <a:prstGeom prst="rect">
            <a:avLst/>
          </a:prstGeom>
          <a:solidFill>
            <a:srgbClr val="4AC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60120" y="274320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1428"/>
                </a:solidFill>
                <a:latin typeface="Arial Black"/>
              </a:rPr>
              <a:t>TOTALE 1 ATLETA  (Adidas)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75320" y="2743200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1428"/>
                </a:solidFill>
                <a:latin typeface="Calibri"/>
              </a:rPr>
              <a:t>89,90 EUR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29800" y="2743200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1428"/>
                </a:solidFill>
                <a:latin typeface="Calibri"/>
              </a:rPr>
              <a:t>55,79 EUR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" y="3072384"/>
            <a:ext cx="10789920" cy="45720"/>
          </a:xfrm>
          <a:prstGeom prst="rect">
            <a:avLst/>
          </a:prstGeom>
          <a:solidFill>
            <a:srgbClr val="DFB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68680" y="314553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DFB16C"/>
                </a:solidFill>
                <a:latin typeface="Arial Black"/>
              </a:rPr>
              <a:t>MID RACCOMANDATO (best balance)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" y="3401568"/>
            <a:ext cx="10515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F5F7FA"/>
                </a:solidFill>
                <a:latin typeface="Calibri"/>
              </a:rPr>
              <a:t>Tiro 24 Training Top + Training Pant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68680" y="3639312"/>
            <a:ext cx="114300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23544" y="3685032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Capo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057400" y="3639312"/>
            <a:ext cx="342900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112264" y="3685032"/>
            <a:ext cx="3337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Modello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532120" y="3639312"/>
            <a:ext cx="269748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586984" y="3685032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Codice/Colorway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75320" y="3639312"/>
            <a:ext cx="150876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330184" y="3685032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Listino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829800" y="3639312"/>
            <a:ext cx="150876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884664" y="3685032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Scontato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68680" y="3877056"/>
            <a:ext cx="114300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23544" y="3922776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Felpa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057400" y="3877056"/>
            <a:ext cx="342900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112264" y="3922776"/>
            <a:ext cx="3337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Adidas Tiro 24 Training Top (mezza zip)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532120" y="3877056"/>
            <a:ext cx="269748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586984" y="3922776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IJ9952-IJ9963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275320" y="3877056"/>
            <a:ext cx="150876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330184" y="3922776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A8B5CC"/>
                </a:solidFill>
                <a:latin typeface="Calibri"/>
              </a:rPr>
              <a:t>49,95 EUR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829800" y="3877056"/>
            <a:ext cx="150876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884664" y="3922776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4AC06E"/>
                </a:solidFill>
                <a:latin typeface="Calibri"/>
              </a:rPr>
              <a:t>30,96 EUR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68680" y="4114800"/>
            <a:ext cx="114300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23544" y="4160520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Pantalone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057400" y="4114800"/>
            <a:ext cx="342900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2112264" y="4160520"/>
            <a:ext cx="3337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Adidas Tiro 24 Training Pant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532120" y="4114800"/>
            <a:ext cx="269748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586984" y="4160520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var. blu scuro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275320" y="4114800"/>
            <a:ext cx="150876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330184" y="4160520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A8B5CC"/>
                </a:solidFill>
                <a:latin typeface="Calibri"/>
              </a:rPr>
              <a:t>59,95 EUR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829800" y="4114800"/>
            <a:ext cx="150876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884664" y="4160520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4AC06E"/>
                </a:solidFill>
                <a:latin typeface="Calibri"/>
              </a:rPr>
              <a:t>37,16 EUR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68680" y="4352544"/>
            <a:ext cx="10469880" cy="237744"/>
          </a:xfrm>
          <a:prstGeom prst="rect">
            <a:avLst/>
          </a:prstGeom>
          <a:solidFill>
            <a:srgbClr val="DFB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960120" y="4398264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1428"/>
                </a:solidFill>
                <a:latin typeface="Arial Black"/>
              </a:rPr>
              <a:t>TOTALE 1 ATLETA  (Adidas)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275320" y="4398264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1428"/>
                </a:solidFill>
                <a:latin typeface="Calibri"/>
              </a:rPr>
              <a:t>109,90 EUR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829800" y="4398264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1428"/>
                </a:solidFill>
                <a:latin typeface="Calibri"/>
              </a:rPr>
              <a:t>68,12 EUR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31520" y="4727448"/>
            <a:ext cx="10789920" cy="45720"/>
          </a:xfrm>
          <a:prstGeom prst="rect">
            <a:avLst/>
          </a:prstGeom>
          <a:solidFill>
            <a:srgbClr val="66B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868680" y="48006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6B2FF"/>
                </a:solidFill>
                <a:latin typeface="Arial Black"/>
              </a:rPr>
              <a:t>TOP (ultima gen)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68680" y="5056632"/>
            <a:ext cx="10515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F5F7FA"/>
                </a:solidFill>
                <a:latin typeface="Calibri"/>
              </a:rPr>
              <a:t>Tiro 26 League Hoody + Training Pant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68680" y="5294376"/>
            <a:ext cx="114300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923544" y="5340096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Capo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057400" y="5294376"/>
            <a:ext cx="342900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2112264" y="5340096"/>
            <a:ext cx="3337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Modello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532120" y="5294376"/>
            <a:ext cx="269748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5586984" y="5340096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Codice/Colorway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275320" y="5294376"/>
            <a:ext cx="150876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8330184" y="5340096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Listino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829800" y="5294376"/>
            <a:ext cx="150876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9884664" y="5340096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Scontato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68680" y="5532120"/>
            <a:ext cx="114300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923544" y="5577840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Felpa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057400" y="5532120"/>
            <a:ext cx="342900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2112264" y="5577840"/>
            <a:ext cx="3337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Adidas Tiro 26 League Hoody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532120" y="5532120"/>
            <a:ext cx="269748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5586984" y="5577840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var. blu/rosso/nero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275320" y="5532120"/>
            <a:ext cx="150876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8330184" y="5577840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A8B5CC"/>
                </a:solidFill>
                <a:latin typeface="Calibri"/>
              </a:rPr>
              <a:t>59,95 EUR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829800" y="5532120"/>
            <a:ext cx="150876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9884664" y="5577840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4AC06E"/>
                </a:solidFill>
                <a:latin typeface="Calibri"/>
              </a:rPr>
              <a:t>37,19 EUR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68680" y="5769864"/>
            <a:ext cx="114300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923544" y="5815584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Pantalone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057400" y="5769864"/>
            <a:ext cx="342900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2112264" y="5815584"/>
            <a:ext cx="3337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Adidas Tiro 26 League Training Pant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532120" y="5769864"/>
            <a:ext cx="269748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5586984" y="5815584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var. blu scuro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275320" y="5769864"/>
            <a:ext cx="150876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8330184" y="5815584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A8B5CC"/>
                </a:solidFill>
                <a:latin typeface="Calibri"/>
              </a:rPr>
              <a:t>49,95 EUR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9829800" y="5769864"/>
            <a:ext cx="150876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9884664" y="5815584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4AC06E"/>
                </a:solidFill>
                <a:latin typeface="Calibri"/>
              </a:rPr>
              <a:t>31,01 EUR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68680" y="6007608"/>
            <a:ext cx="10469880" cy="237744"/>
          </a:xfrm>
          <a:prstGeom prst="rect">
            <a:avLst/>
          </a:prstGeom>
          <a:solidFill>
            <a:srgbClr val="66B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960120" y="6053328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1428"/>
                </a:solidFill>
                <a:latin typeface="Arial Black"/>
              </a:rPr>
              <a:t>TOTALE 1 ATLETA  (Adidas)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275320" y="6053328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1428"/>
                </a:solidFill>
                <a:latin typeface="Calibri"/>
              </a:rPr>
              <a:t>109,90 EUR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829800" y="6053328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1428"/>
                </a:solidFill>
                <a:latin typeface="Calibri"/>
              </a:rPr>
              <a:t>68,20 EUR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DFB16C"/>
                </a:solidFill>
                <a:latin typeface="Arial Black"/>
              </a:rPr>
              <a:t>07  ·  TUTA RAPPRESENTANZA  ·  NIKE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457200" cy="73152"/>
          </a:xfrm>
          <a:prstGeom prst="rect">
            <a:avLst/>
          </a:prstGeom>
          <a:solidFill>
            <a:srgbClr val="DFB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5F7FA"/>
                </a:solidFill>
                <a:latin typeface="Arial Black"/>
              </a:rPr>
              <a:t>Tuta rappresentanza — Nike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789920" cy="45720"/>
          </a:xfrm>
          <a:prstGeom prst="rect">
            <a:avLst/>
          </a:prstGeom>
          <a:solidFill>
            <a:srgbClr val="4AC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490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4AC06E"/>
                </a:solidFill>
                <a:latin typeface="Arial Black"/>
              </a:rPr>
              <a:t>ENTRY ECONOMICO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746504"/>
            <a:ext cx="10515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F5F7FA"/>
                </a:solidFill>
                <a:latin typeface="Calibri"/>
              </a:rPr>
              <a:t>Park 20 Sweatshirt + Pant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984248"/>
            <a:ext cx="114300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23544" y="2029968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Capo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57400" y="1984248"/>
            <a:ext cx="342900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112264" y="2029968"/>
            <a:ext cx="3337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Modello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32120" y="1984248"/>
            <a:ext cx="269748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586984" y="2029968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Codice/Colorway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75320" y="1984248"/>
            <a:ext cx="150876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30184" y="2029968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Listino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829800" y="1984248"/>
            <a:ext cx="150876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884664" y="2029968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Scontato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2221992"/>
            <a:ext cx="114300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3544" y="2267712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Felpa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57400" y="2221992"/>
            <a:ext cx="342900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112264" y="2267712"/>
            <a:ext cx="3337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Nike Park 20 Sweatshirt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32120" y="2221992"/>
            <a:ext cx="269748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586984" y="2267712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var. F302/F410/F657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75320" y="2221992"/>
            <a:ext cx="150876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30184" y="2267712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A8B5CC"/>
                </a:solidFill>
                <a:latin typeface="Calibri"/>
              </a:rPr>
              <a:t>37,95 EUR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29800" y="2221992"/>
            <a:ext cx="150876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884664" y="2267712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4AC06E"/>
                </a:solidFill>
                <a:latin typeface="Calibri"/>
              </a:rPr>
              <a:t>15,09 EUR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8680" y="2459736"/>
            <a:ext cx="114300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23544" y="2505456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Pantalone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57400" y="2459736"/>
            <a:ext cx="342900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112264" y="2505456"/>
            <a:ext cx="3337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Nike Park 20 Knit Pant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32120" y="2459736"/>
            <a:ext cx="269748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586984" y="2505456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var. blu/nero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75320" y="2459736"/>
            <a:ext cx="150876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330184" y="2505456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A8B5CC"/>
                </a:solidFill>
                <a:latin typeface="Calibri"/>
              </a:rPr>
              <a:t>27,95 EUR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29800" y="2459736"/>
            <a:ext cx="150876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884664" y="2505456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4AC06E"/>
                </a:solidFill>
                <a:latin typeface="Calibri"/>
              </a:rPr>
              <a:t>22,00 EUR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68680" y="2697480"/>
            <a:ext cx="10469880" cy="237744"/>
          </a:xfrm>
          <a:prstGeom prst="rect">
            <a:avLst/>
          </a:prstGeom>
          <a:solidFill>
            <a:srgbClr val="4AC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60120" y="274320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1428"/>
                </a:solidFill>
                <a:latin typeface="Arial Black"/>
              </a:rPr>
              <a:t>TOTALE 1 ATLETA  (Nike)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75320" y="2743200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1428"/>
                </a:solidFill>
                <a:latin typeface="Calibri"/>
              </a:rPr>
              <a:t>65,90 EUR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29800" y="2743200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1428"/>
                </a:solidFill>
                <a:latin typeface="Calibri"/>
              </a:rPr>
              <a:t>37,09 EUR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" y="3072384"/>
            <a:ext cx="10789920" cy="45720"/>
          </a:xfrm>
          <a:prstGeom prst="rect">
            <a:avLst/>
          </a:prstGeom>
          <a:solidFill>
            <a:srgbClr val="DFB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68680" y="314553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DFB16C"/>
                </a:solidFill>
                <a:latin typeface="Arial Black"/>
              </a:rPr>
              <a:t>MID RACCOMANDATO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" y="3401568"/>
            <a:ext cx="10515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F5F7FA"/>
                </a:solidFill>
                <a:latin typeface="Calibri"/>
              </a:rPr>
              <a:t>Academy 25 Drill Top + Pant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68680" y="3639312"/>
            <a:ext cx="114300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23544" y="3685032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Capo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057400" y="3639312"/>
            <a:ext cx="342900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112264" y="3685032"/>
            <a:ext cx="3337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Modello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532120" y="3639312"/>
            <a:ext cx="269748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586984" y="3685032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Codice/Colorway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75320" y="3639312"/>
            <a:ext cx="150876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330184" y="3685032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Listino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829800" y="3639312"/>
            <a:ext cx="150876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884664" y="3685032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Scontato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68680" y="3877056"/>
            <a:ext cx="114300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23544" y="3922776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Felpa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057400" y="3877056"/>
            <a:ext cx="342900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112264" y="3922776"/>
            <a:ext cx="3337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Nike Academy 25 Drill Top (mezza zip)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532120" y="3877056"/>
            <a:ext cx="269748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586984" y="3922776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F657 rosso / F410 navy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275320" y="3877056"/>
            <a:ext cx="150876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330184" y="3922776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A8B5CC"/>
                </a:solidFill>
                <a:latin typeface="Calibri"/>
              </a:rPr>
              <a:t>44,95 EUR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829800" y="3877056"/>
            <a:ext cx="150876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884664" y="3922776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4AC06E"/>
                </a:solidFill>
                <a:latin typeface="Calibri"/>
              </a:rPr>
              <a:t>27,91 EUR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68680" y="4114800"/>
            <a:ext cx="114300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23544" y="4160520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Pantalone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057400" y="4114800"/>
            <a:ext cx="342900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2112264" y="4160520"/>
            <a:ext cx="3337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Nike Academy 25 Pant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532120" y="4114800"/>
            <a:ext cx="269748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586984" y="4160520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F010/F410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275320" y="4114800"/>
            <a:ext cx="150876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330184" y="4160520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A8B5CC"/>
                </a:solidFill>
                <a:latin typeface="Calibri"/>
              </a:rPr>
              <a:t>44,95 EUR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829800" y="4114800"/>
            <a:ext cx="150876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884664" y="4160520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4AC06E"/>
                </a:solidFill>
                <a:latin typeface="Calibri"/>
              </a:rPr>
              <a:t>27,86 EUR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68680" y="4352544"/>
            <a:ext cx="10469880" cy="237744"/>
          </a:xfrm>
          <a:prstGeom prst="rect">
            <a:avLst/>
          </a:prstGeom>
          <a:solidFill>
            <a:srgbClr val="DFB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960120" y="4398264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1428"/>
                </a:solidFill>
                <a:latin typeface="Arial Black"/>
              </a:rPr>
              <a:t>TOTALE 1 ATLETA  (Nike)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275320" y="4398264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1428"/>
                </a:solidFill>
                <a:latin typeface="Calibri"/>
              </a:rPr>
              <a:t>89,90 EUR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829800" y="4398264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1428"/>
                </a:solidFill>
                <a:latin typeface="Calibri"/>
              </a:rPr>
              <a:t>55,77 EUR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31520" y="4727448"/>
            <a:ext cx="10789920" cy="4572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868680" y="48006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  <a:latin typeface="Arial Black"/>
              </a:rPr>
              <a:t>MID+ (qualita' Pro)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68680" y="5056632"/>
            <a:ext cx="10515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F5F7FA"/>
                </a:solidFill>
                <a:latin typeface="Calibri"/>
              </a:rPr>
              <a:t>Academy Pro 24 Drill Top + Pant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68680" y="5294376"/>
            <a:ext cx="114300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923544" y="5340096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Capo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057400" y="5294376"/>
            <a:ext cx="342900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2112264" y="5340096"/>
            <a:ext cx="3337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Modello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532120" y="5294376"/>
            <a:ext cx="269748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5586984" y="5340096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Codice/Colorway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275320" y="5294376"/>
            <a:ext cx="150876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8330184" y="5340096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Listino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829800" y="5294376"/>
            <a:ext cx="150876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9884664" y="5340096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Scontato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68680" y="5532120"/>
            <a:ext cx="114300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923544" y="5577840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Felpa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057400" y="5532120"/>
            <a:ext cx="342900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2112264" y="5577840"/>
            <a:ext cx="3337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Nike Academy Pro 24 Drill Top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532120" y="5532120"/>
            <a:ext cx="269748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5586984" y="5577840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FD7671 / FD7667 (C455 navy / C657 rosso)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275320" y="5532120"/>
            <a:ext cx="150876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8330184" y="5577840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A8B5CC"/>
                </a:solidFill>
                <a:latin typeface="Calibri"/>
              </a:rPr>
              <a:t>49,95 EUR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829800" y="5532120"/>
            <a:ext cx="150876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9884664" y="5577840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4AC06E"/>
                </a:solidFill>
                <a:latin typeface="Calibri"/>
              </a:rPr>
              <a:t>30,96 EUR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68680" y="5769864"/>
            <a:ext cx="114300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923544" y="5815584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Pantalone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057400" y="5769864"/>
            <a:ext cx="342900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2112264" y="5815584"/>
            <a:ext cx="3337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Nike Academy Pro 24 Pant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532120" y="5769864"/>
            <a:ext cx="269748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5586984" y="5815584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var. blu/nero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275320" y="5769864"/>
            <a:ext cx="150876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8330184" y="5815584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A8B5CC"/>
                </a:solidFill>
                <a:latin typeface="Calibri"/>
              </a:rPr>
              <a:t>49,95 EUR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9829800" y="5769864"/>
            <a:ext cx="150876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9884664" y="5815584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4AC06E"/>
                </a:solidFill>
                <a:latin typeface="Calibri"/>
              </a:rPr>
              <a:t>30,96 EUR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68680" y="6007608"/>
            <a:ext cx="10469880" cy="23774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960120" y="6053328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1428"/>
                </a:solidFill>
                <a:latin typeface="Arial Black"/>
              </a:rPr>
              <a:t>TOTALE 1 ATLETA  (Nike)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275320" y="6053328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1428"/>
                </a:solidFill>
                <a:latin typeface="Calibri"/>
              </a:rPr>
              <a:t>99,90 EUR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829800" y="6053328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1428"/>
                </a:solidFill>
                <a:latin typeface="Calibri"/>
              </a:rPr>
              <a:t>61,92 EUR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DFB16C"/>
                </a:solidFill>
                <a:latin typeface="Arial Black"/>
              </a:rPr>
              <a:t>08  ·  TUTA RAPPRESENTANZA  ·  CONFRONTO 25 ATLETI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457200" cy="73152"/>
          </a:xfrm>
          <a:prstGeom prst="rect">
            <a:avLst/>
          </a:prstGeom>
          <a:solidFill>
            <a:srgbClr val="DFB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F5F7FA"/>
                </a:solidFill>
                <a:latin typeface="Arial Black"/>
              </a:rPr>
              <a:t>Tuta rappresentanza — totale per 25 atleti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83080"/>
            <a:ext cx="1051560" cy="411480"/>
          </a:xfrm>
          <a:prstGeom prst="rect">
            <a:avLst/>
          </a:prstGeom>
          <a:solidFill>
            <a:srgbClr val="DFB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901952"/>
            <a:ext cx="9509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0A1428"/>
                </a:solidFill>
                <a:latin typeface="Arial Black"/>
              </a:rPr>
              <a:t>Brand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1783080"/>
            <a:ext cx="4069080" cy="411480"/>
          </a:xfrm>
          <a:prstGeom prst="rect">
            <a:avLst/>
          </a:prstGeom>
          <a:solidFill>
            <a:srgbClr val="DFB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901952" y="1901952"/>
            <a:ext cx="39684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0A1428"/>
                </a:solidFill>
                <a:latin typeface="Arial Black"/>
              </a:rPr>
              <a:t>Opzione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783080"/>
            <a:ext cx="1783080" cy="411480"/>
          </a:xfrm>
          <a:prstGeom prst="rect">
            <a:avLst/>
          </a:prstGeom>
          <a:solidFill>
            <a:srgbClr val="DFB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16752" y="1901952"/>
            <a:ext cx="16824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0A1428"/>
                </a:solidFill>
                <a:latin typeface="Arial Black"/>
              </a:rPr>
              <a:t>Capo singolo (scontato)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1783080"/>
            <a:ext cx="777240" cy="411480"/>
          </a:xfrm>
          <a:prstGeom prst="rect">
            <a:avLst/>
          </a:prstGeom>
          <a:solidFill>
            <a:srgbClr val="DFB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45552" y="1901952"/>
            <a:ext cx="6766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0A1428"/>
                </a:solidFill>
                <a:latin typeface="Arial Black"/>
              </a:rPr>
              <a:t>+Pers.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95360" y="1783080"/>
            <a:ext cx="1234440" cy="411480"/>
          </a:xfrm>
          <a:prstGeom prst="rect">
            <a:avLst/>
          </a:prstGeom>
          <a:solidFill>
            <a:srgbClr val="DFB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68512" y="1901952"/>
            <a:ext cx="11338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0A1428"/>
                </a:solidFill>
                <a:latin typeface="Arial Black"/>
              </a:rPr>
              <a:t>1 atleta tot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75520" y="1783080"/>
            <a:ext cx="2240280" cy="411480"/>
          </a:xfrm>
          <a:prstGeom prst="rect">
            <a:avLst/>
          </a:prstGeom>
          <a:solidFill>
            <a:srgbClr val="DFB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948672" y="1901952"/>
            <a:ext cx="21396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0A1428"/>
                </a:solidFill>
                <a:latin typeface="Arial Black"/>
              </a:rPr>
              <a:t>25 ATLETI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194560"/>
            <a:ext cx="1051560" cy="411480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" y="2249424"/>
            <a:ext cx="95097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4AC06E"/>
                </a:solidFill>
                <a:latin typeface="Calibri"/>
              </a:rPr>
              <a:t>Nike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0" y="2194560"/>
            <a:ext cx="4069080" cy="411480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901952" y="2249424"/>
            <a:ext cx="39684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ENTRY ECONOMICO</a:t>
            </a:r>
          </a:p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Park 20 Sweatshirt + Pant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2194560"/>
            <a:ext cx="1783080" cy="411480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16752" y="2249424"/>
            <a:ext cx="16824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37,09 EUR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0" y="2194560"/>
            <a:ext cx="777240" cy="411480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845552" y="2249424"/>
            <a:ext cx="67665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12,00 EUR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95360" y="2194560"/>
            <a:ext cx="1234440" cy="411480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68512" y="2249424"/>
            <a:ext cx="113385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49,09 EUR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75520" y="2194560"/>
            <a:ext cx="2240280" cy="411480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948672" y="2249424"/>
            <a:ext cx="21396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4AC06E"/>
                </a:solidFill>
                <a:latin typeface="Calibri"/>
              </a:rPr>
              <a:t>1.227,25 EUR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2606040"/>
            <a:ext cx="1051560" cy="41148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4672" y="2660904"/>
            <a:ext cx="95097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DFB16C"/>
                </a:solidFill>
                <a:latin typeface="Calibri"/>
              </a:rPr>
              <a:t>Nike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0" y="2606040"/>
            <a:ext cx="4069080" cy="41148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901952" y="2660904"/>
            <a:ext cx="39684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MID RACCOMANDATO</a:t>
            </a:r>
          </a:p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Academy 25 Drill Top + Pant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0" y="2606040"/>
            <a:ext cx="1783080" cy="41148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016752" y="2660904"/>
            <a:ext cx="16824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55,77 EUR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0" y="2606040"/>
            <a:ext cx="777240" cy="41148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845552" y="2660904"/>
            <a:ext cx="67665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12,00 EUR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95360" y="2606040"/>
            <a:ext cx="1234440" cy="41148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668512" y="2660904"/>
            <a:ext cx="113385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67,77 EUR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875520" y="2606040"/>
            <a:ext cx="2240280" cy="41148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948672" y="2660904"/>
            <a:ext cx="21396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DFB16C"/>
                </a:solidFill>
                <a:latin typeface="Calibri"/>
              </a:rPr>
              <a:t>1.694,25 EUR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" y="3017520"/>
            <a:ext cx="1051560" cy="411480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04672" y="3072384"/>
            <a:ext cx="95097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4AC06E"/>
                </a:solidFill>
                <a:latin typeface="Calibri"/>
              </a:rPr>
              <a:t>Adidas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828800" y="3017520"/>
            <a:ext cx="4069080" cy="411480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901952" y="3072384"/>
            <a:ext cx="39684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ENTRY ECONOMICO</a:t>
            </a:r>
          </a:p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Entrada 26 Training Top + Pant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43600" y="3017520"/>
            <a:ext cx="1783080" cy="411480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016752" y="3072384"/>
            <a:ext cx="16824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55,79 EUR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72400" y="3017520"/>
            <a:ext cx="777240" cy="411480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845552" y="3072384"/>
            <a:ext cx="67665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12,00 EUR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595360" y="3017520"/>
            <a:ext cx="1234440" cy="411480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668512" y="3072384"/>
            <a:ext cx="113385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67,79 EUR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875520" y="3017520"/>
            <a:ext cx="2240280" cy="411480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948672" y="3072384"/>
            <a:ext cx="21396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5F7FA"/>
                </a:solidFill>
                <a:latin typeface="Calibri"/>
              </a:rPr>
              <a:t>1.694,75 EUR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31520" y="3429000"/>
            <a:ext cx="1051560" cy="41148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04672" y="3483864"/>
            <a:ext cx="95097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  <a:latin typeface="Calibri"/>
              </a:rPr>
              <a:t>Nike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0" y="3429000"/>
            <a:ext cx="4069080" cy="41148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901952" y="3483864"/>
            <a:ext cx="39684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MID+ (qualita' Pro)</a:t>
            </a:r>
          </a:p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Academy Pro 24 Drill Top + Pant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943600" y="3429000"/>
            <a:ext cx="1783080" cy="41148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016752" y="3483864"/>
            <a:ext cx="16824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61,92 EUR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772400" y="3429000"/>
            <a:ext cx="777240" cy="41148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845552" y="3483864"/>
            <a:ext cx="67665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12,00 EUR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595360" y="3429000"/>
            <a:ext cx="1234440" cy="41148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668512" y="3483864"/>
            <a:ext cx="113385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73,92 EUR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875520" y="3429000"/>
            <a:ext cx="2240280" cy="41148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948672" y="3483864"/>
            <a:ext cx="21396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5F7FA"/>
                </a:solidFill>
                <a:latin typeface="Calibri"/>
              </a:rPr>
              <a:t>1.848,00 EUR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31520" y="3840480"/>
            <a:ext cx="1051560" cy="411480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04672" y="3895344"/>
            <a:ext cx="95097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DFB16C"/>
                </a:solidFill>
                <a:latin typeface="Calibri"/>
              </a:rPr>
              <a:t>Adidas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28800" y="3840480"/>
            <a:ext cx="4069080" cy="411480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901952" y="3895344"/>
            <a:ext cx="39684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MID RACCOMANDATO (best balance)</a:t>
            </a:r>
          </a:p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Tiro 24 Training Top + Training Pant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943600" y="3840480"/>
            <a:ext cx="1783080" cy="411480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016752" y="3895344"/>
            <a:ext cx="16824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68,12 EUR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772400" y="3840480"/>
            <a:ext cx="777240" cy="411480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845552" y="3895344"/>
            <a:ext cx="67665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12,00 EUR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595360" y="3840480"/>
            <a:ext cx="1234440" cy="411480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8668512" y="3895344"/>
            <a:ext cx="113385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80,12 EUR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875520" y="3840480"/>
            <a:ext cx="2240280" cy="411480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9948672" y="3895344"/>
            <a:ext cx="21396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5F7FA"/>
                </a:solidFill>
                <a:latin typeface="Calibri"/>
              </a:rPr>
              <a:t>2.003,00 EUR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31520" y="4251960"/>
            <a:ext cx="1051560" cy="41148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04672" y="4306824"/>
            <a:ext cx="95097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6B2FF"/>
                </a:solidFill>
                <a:latin typeface="Calibri"/>
              </a:rPr>
              <a:t>Adidas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828800" y="4251960"/>
            <a:ext cx="4069080" cy="41148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1901952" y="4306824"/>
            <a:ext cx="39684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TOP (ultima gen)</a:t>
            </a:r>
          </a:p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Tiro 26 League Hoody + Training Pant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943600" y="4251960"/>
            <a:ext cx="1783080" cy="41148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6016752" y="4306824"/>
            <a:ext cx="16824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68,20 EUR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772400" y="4251960"/>
            <a:ext cx="777240" cy="41148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845552" y="4306824"/>
            <a:ext cx="67665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12,00 EUR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595360" y="4251960"/>
            <a:ext cx="1234440" cy="41148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8668512" y="4306824"/>
            <a:ext cx="113385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80,20 EUR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875520" y="4251960"/>
            <a:ext cx="2240280" cy="41148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9948672" y="4306824"/>
            <a:ext cx="21396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5F7FA"/>
                </a:solidFill>
                <a:latin typeface="Calibri"/>
              </a:rPr>
              <a:t>2.005,00 EUR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31520" y="493776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A8B5CC"/>
                </a:solidFill>
                <a:latin typeface="Calibri"/>
              </a:rPr>
              <a:t>Personalizzazione standard inclusa: scudetto ricamato + iniziali atleta = 12,00 EUR/atleta. Costo impianto ricamo logo (una tantum) escluso (~30 EUR).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31520" y="521208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A8B5CC"/>
                </a:solidFill>
                <a:latin typeface="Calibri"/>
              </a:rPr>
              <a:t>VERDE = soluzione piu' economica  ·  ORO = secondo miglior prezzo  ·  Riga top = ranking ascending per costo totale 25 atleti.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DFB16C"/>
                </a:solidFill>
                <a:latin typeface="Arial Black"/>
              </a:rPr>
              <a:t>09  ·  GIACCA INVERNALE  ·  ADIDAS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457200" cy="73152"/>
          </a:xfrm>
          <a:prstGeom prst="rect">
            <a:avLst/>
          </a:prstGeom>
          <a:solidFill>
            <a:srgbClr val="DFB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5F7FA"/>
                </a:solidFill>
                <a:latin typeface="Arial Black"/>
              </a:rPr>
              <a:t>Giacca invernale — Adidas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789920" cy="45720"/>
          </a:xfrm>
          <a:prstGeom prst="rect">
            <a:avLst/>
          </a:prstGeom>
          <a:solidFill>
            <a:srgbClr val="4AC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490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4AC06E"/>
                </a:solidFill>
                <a:latin typeface="Arial Black"/>
              </a:rPr>
              <a:t>ENTRY ECONOMICO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746504"/>
            <a:ext cx="10515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F5F7FA"/>
                </a:solidFill>
                <a:latin typeface="Calibri"/>
              </a:rPr>
              <a:t>Entrada 26 Winter Jacket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984248"/>
            <a:ext cx="114300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23544" y="2029968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Capo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57400" y="1984248"/>
            <a:ext cx="342900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112264" y="2029968"/>
            <a:ext cx="3337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Modello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32120" y="1984248"/>
            <a:ext cx="269748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586984" y="2029968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Codice/Colorway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75320" y="1984248"/>
            <a:ext cx="150876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30184" y="2029968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Listino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829800" y="1984248"/>
            <a:ext cx="150876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884664" y="2029968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Scontato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2221992"/>
            <a:ext cx="114300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3544" y="2267712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Giacca invernale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57400" y="2221992"/>
            <a:ext cx="342900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112264" y="2267712"/>
            <a:ext cx="3337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Adidas Entrada 26 Winter Jacket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32120" y="2221992"/>
            <a:ext cx="269748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586984" y="2267712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var. nero / Dark Blue navy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75320" y="2221992"/>
            <a:ext cx="150876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30184" y="2267712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A8B5CC"/>
                </a:solidFill>
                <a:latin typeface="Calibri"/>
              </a:rPr>
              <a:t>84,95 EUR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29800" y="2221992"/>
            <a:ext cx="150876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884664" y="2267712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4AC06E"/>
                </a:solidFill>
                <a:latin typeface="Calibri"/>
              </a:rPr>
              <a:t>52,75 EUR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8680" y="2459736"/>
            <a:ext cx="10469880" cy="237744"/>
          </a:xfrm>
          <a:prstGeom prst="rect">
            <a:avLst/>
          </a:prstGeom>
          <a:solidFill>
            <a:srgbClr val="4AC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60120" y="2505456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1428"/>
                </a:solidFill>
                <a:latin typeface="Arial Black"/>
              </a:rPr>
              <a:t>TOTALE 1 ATLETA  (Adidas)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2505456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1428"/>
                </a:solidFill>
                <a:latin typeface="Calibri"/>
              </a:rPr>
              <a:t>84,95 EUR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29800" y="2505456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1428"/>
                </a:solidFill>
                <a:latin typeface="Calibri"/>
              </a:rPr>
              <a:t>52,75 EUR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2834640"/>
            <a:ext cx="10789920" cy="45720"/>
          </a:xfrm>
          <a:prstGeom prst="rect">
            <a:avLst/>
          </a:prstGeom>
          <a:solidFill>
            <a:srgbClr val="DFB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68680" y="290779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DFB16C"/>
                </a:solidFill>
                <a:latin typeface="Arial Black"/>
              </a:rPr>
              <a:t>MID RACCOMANDATO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3163824"/>
            <a:ext cx="10515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F5F7FA"/>
                </a:solidFill>
                <a:latin typeface="Calibri"/>
              </a:rPr>
              <a:t>Tiro 24 Winter Jacket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8680" y="3401568"/>
            <a:ext cx="114300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23544" y="3447288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Capo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057400" y="3401568"/>
            <a:ext cx="342900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112264" y="3447288"/>
            <a:ext cx="3337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Modello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532120" y="3401568"/>
            <a:ext cx="269748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586984" y="3447288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Codice/Colorway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75320" y="3401568"/>
            <a:ext cx="150876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330184" y="3447288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Listino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829800" y="3401568"/>
            <a:ext cx="150876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884664" y="3447288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Scontato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68680" y="3639312"/>
            <a:ext cx="114300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23544" y="3685032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Giacca invernale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057400" y="3639312"/>
            <a:ext cx="342900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112264" y="3685032"/>
            <a:ext cx="3337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Adidas Tiro 24 Winter Jacket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532120" y="3639312"/>
            <a:ext cx="269748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586984" y="3685032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var. Nero/Bianco, Blu/Bianco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75320" y="3639312"/>
            <a:ext cx="150876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330184" y="3685032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A8B5CC"/>
                </a:solidFill>
                <a:latin typeface="Calibri"/>
              </a:rPr>
              <a:t>129,95 EUR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829800" y="3639312"/>
            <a:ext cx="150876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884664" y="3685032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4AC06E"/>
                </a:solidFill>
                <a:latin typeface="Calibri"/>
              </a:rPr>
              <a:t>80,56 EUR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68680" y="3877056"/>
            <a:ext cx="10469880" cy="237744"/>
          </a:xfrm>
          <a:prstGeom prst="rect">
            <a:avLst/>
          </a:prstGeom>
          <a:solidFill>
            <a:srgbClr val="DFB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60120" y="3922776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1428"/>
                </a:solidFill>
                <a:latin typeface="Arial Black"/>
              </a:rPr>
              <a:t>TOTALE 1 ATLETA  (Adidas)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75320" y="3922776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1428"/>
                </a:solidFill>
                <a:latin typeface="Calibri"/>
              </a:rPr>
              <a:t>129,95 EUR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29800" y="3922776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1428"/>
                </a:solidFill>
                <a:latin typeface="Calibri"/>
              </a:rPr>
              <a:t>80,56 EUR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31520" y="4251960"/>
            <a:ext cx="10789920" cy="45720"/>
          </a:xfrm>
          <a:prstGeom prst="rect">
            <a:avLst/>
          </a:prstGeom>
          <a:solidFill>
            <a:srgbClr val="66B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68680" y="432511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6B2FF"/>
                </a:solidFill>
                <a:latin typeface="Arial Black"/>
              </a:rPr>
              <a:t>TOP PARKA DA PANCHINA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68680" y="4581144"/>
            <a:ext cx="10515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F5F7FA"/>
                </a:solidFill>
                <a:latin typeface="Calibri"/>
              </a:rPr>
              <a:t>Tiro 26 Stadium Parka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68680" y="4818888"/>
            <a:ext cx="114300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23544" y="4864608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Capo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057400" y="4818888"/>
            <a:ext cx="342900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2112264" y="4864608"/>
            <a:ext cx="3337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Modello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532120" y="4818888"/>
            <a:ext cx="269748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586984" y="4864608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Codice/Colorway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275320" y="4818888"/>
            <a:ext cx="150876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330184" y="4864608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Listino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829800" y="4818888"/>
            <a:ext cx="150876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9884664" y="4864608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Scontato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68680" y="5056632"/>
            <a:ext cx="114300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923544" y="5102352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Parka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057400" y="5056632"/>
            <a:ext cx="342900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2112264" y="5102352"/>
            <a:ext cx="3337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Adidas Tiro 26 Stadium Parka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532120" y="5056632"/>
            <a:ext cx="269748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586984" y="5102352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KA8022 (Nero / Dark Blue)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275320" y="5056632"/>
            <a:ext cx="150876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8330184" y="5102352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A8B5CC"/>
                </a:solidFill>
                <a:latin typeface="Calibri"/>
              </a:rPr>
              <a:t>159,95 EUR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829800" y="5056632"/>
            <a:ext cx="150876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9884664" y="5102352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4AC06E"/>
                </a:solidFill>
                <a:latin typeface="Calibri"/>
              </a:rPr>
              <a:t>99,29 EUR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68680" y="5294376"/>
            <a:ext cx="10469880" cy="237744"/>
          </a:xfrm>
          <a:prstGeom prst="rect">
            <a:avLst/>
          </a:prstGeom>
          <a:solidFill>
            <a:srgbClr val="66B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960120" y="5340096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1428"/>
                </a:solidFill>
                <a:latin typeface="Arial Black"/>
              </a:rPr>
              <a:t>TOTALE 1 ATLETA  (Adidas)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275320" y="5340096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1428"/>
                </a:solidFill>
                <a:latin typeface="Calibri"/>
              </a:rPr>
              <a:t>159,95 EUR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829800" y="5340096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1428"/>
                </a:solidFill>
                <a:latin typeface="Calibri"/>
              </a:rPr>
              <a:t>99,29 EUR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DFB16C"/>
                </a:solidFill>
                <a:latin typeface="Arial Black"/>
              </a:rPr>
              <a:t>10  ·  GIACCA INVERNALE  ·  NIKE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457200" cy="73152"/>
          </a:xfrm>
          <a:prstGeom prst="rect">
            <a:avLst/>
          </a:prstGeom>
          <a:solidFill>
            <a:srgbClr val="DFB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5F7FA"/>
                </a:solidFill>
                <a:latin typeface="Arial Black"/>
              </a:rPr>
              <a:t>Giacca invernale — Nike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789920" cy="45720"/>
          </a:xfrm>
          <a:prstGeom prst="rect">
            <a:avLst/>
          </a:prstGeom>
          <a:solidFill>
            <a:srgbClr val="E8A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490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E8A83E"/>
                </a:solidFill>
                <a:latin typeface="Arial Black"/>
              </a:rPr>
              <a:t>ENTRY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746504"/>
            <a:ext cx="10515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F5F7FA"/>
                </a:solidFill>
                <a:latin typeface="Calibri"/>
              </a:rPr>
              <a:t>Park 26 Winter Jacket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984248"/>
            <a:ext cx="114300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23544" y="2029968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Capo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57400" y="1984248"/>
            <a:ext cx="342900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112264" y="2029968"/>
            <a:ext cx="3337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Modello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32120" y="1984248"/>
            <a:ext cx="269748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586984" y="2029968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Codice/Colorway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75320" y="1984248"/>
            <a:ext cx="150876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30184" y="2029968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Listino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829800" y="1984248"/>
            <a:ext cx="150876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884664" y="2029968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Scontato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2221992"/>
            <a:ext cx="114300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3544" y="2267712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Giacca invernale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57400" y="2221992"/>
            <a:ext cx="342900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112264" y="2267712"/>
            <a:ext cx="3337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Nike Park 26 Winter Jacket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32120" y="2221992"/>
            <a:ext cx="269748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586984" y="2267712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HM7278 (Nero / Blu C410)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75320" y="2221992"/>
            <a:ext cx="150876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30184" y="2267712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A8B5CC"/>
                </a:solidFill>
                <a:latin typeface="Calibri"/>
              </a:rPr>
              <a:t>129,95 EUR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29800" y="2221992"/>
            <a:ext cx="150876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884664" y="2267712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4AC06E"/>
                </a:solidFill>
                <a:latin typeface="Calibri"/>
              </a:rPr>
              <a:t>80,69 EUR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8680" y="2459736"/>
            <a:ext cx="10469880" cy="237744"/>
          </a:xfrm>
          <a:prstGeom prst="rect">
            <a:avLst/>
          </a:prstGeom>
          <a:solidFill>
            <a:srgbClr val="E8A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60120" y="2505456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1428"/>
                </a:solidFill>
                <a:latin typeface="Arial Black"/>
              </a:rPr>
              <a:t>TOTALE 1 ATLETA  (Nike)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2505456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1428"/>
                </a:solidFill>
                <a:latin typeface="Calibri"/>
              </a:rPr>
              <a:t>129,95 EUR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29800" y="2505456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1428"/>
                </a:solidFill>
                <a:latin typeface="Calibri"/>
              </a:rPr>
              <a:t>80,69 EUR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2834640"/>
            <a:ext cx="10789920" cy="45720"/>
          </a:xfrm>
          <a:prstGeom prst="rect">
            <a:avLst/>
          </a:prstGeom>
          <a:solidFill>
            <a:srgbClr val="DFB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68680" y="290779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DFB16C"/>
                </a:solidFill>
                <a:latin typeface="Arial Black"/>
              </a:rPr>
              <a:t>MID 2-IN-1 STAFF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3163824"/>
            <a:ext cx="10515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F5F7FA"/>
                </a:solidFill>
                <a:latin typeface="Calibri"/>
              </a:rPr>
              <a:t>Academy Pro Therma 2in1 Insulated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8680" y="3401568"/>
            <a:ext cx="114300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23544" y="3447288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Capo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057400" y="3401568"/>
            <a:ext cx="342900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112264" y="3447288"/>
            <a:ext cx="3337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Modello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532120" y="3401568"/>
            <a:ext cx="269748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586984" y="3447288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Codice/Colorway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75320" y="3401568"/>
            <a:ext cx="150876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330184" y="3447288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Listino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829800" y="3401568"/>
            <a:ext cx="150876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884664" y="3447288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Scontato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68680" y="3639312"/>
            <a:ext cx="114300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23544" y="3685032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Giacca + gilet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057400" y="3639312"/>
            <a:ext cx="342900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112264" y="3685032"/>
            <a:ext cx="3337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Nike Academy Pro Therma 2in1 Insulated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532120" y="3639312"/>
            <a:ext cx="269748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586984" y="3685032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DJ6306 (Blu F451)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75320" y="3639312"/>
            <a:ext cx="150876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330184" y="3685032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A8B5CC"/>
                </a:solidFill>
                <a:latin typeface="Calibri"/>
              </a:rPr>
              <a:t>169,95 EUR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829800" y="3639312"/>
            <a:ext cx="150876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884664" y="3685032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4AC06E"/>
                </a:solidFill>
                <a:latin typeface="Calibri"/>
              </a:rPr>
              <a:t>105,36 EUR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68680" y="3877056"/>
            <a:ext cx="10469880" cy="237744"/>
          </a:xfrm>
          <a:prstGeom prst="rect">
            <a:avLst/>
          </a:prstGeom>
          <a:solidFill>
            <a:srgbClr val="DFB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60120" y="3922776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1428"/>
                </a:solidFill>
                <a:latin typeface="Arial Black"/>
              </a:rPr>
              <a:t>TOTALE 1 ATLETA  (Nike)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75320" y="3922776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1428"/>
                </a:solidFill>
                <a:latin typeface="Calibri"/>
              </a:rPr>
              <a:t>169,95 EUR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29800" y="3922776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1428"/>
                </a:solidFill>
                <a:latin typeface="Calibri"/>
              </a:rPr>
              <a:t>105,36 EUR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31520" y="4251960"/>
            <a:ext cx="10789920" cy="4572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68680" y="432511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  <a:latin typeface="Arial Black"/>
              </a:rPr>
              <a:t>TOP PARKA DA PANCHINA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68680" y="4581144"/>
            <a:ext cx="10515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F5F7FA"/>
                </a:solidFill>
                <a:latin typeface="Calibri"/>
              </a:rPr>
              <a:t>Club Stadium Parka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68680" y="4818888"/>
            <a:ext cx="114300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23544" y="4864608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Capo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057400" y="4818888"/>
            <a:ext cx="342900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2112264" y="4864608"/>
            <a:ext cx="3337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Modello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532120" y="4818888"/>
            <a:ext cx="269748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586984" y="4864608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Codice/Colorway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275320" y="4818888"/>
            <a:ext cx="150876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330184" y="4864608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Listino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829800" y="4818888"/>
            <a:ext cx="150876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9884664" y="4864608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Scontato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68680" y="5056632"/>
            <a:ext cx="114300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923544" y="5102352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Parka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057400" y="5056632"/>
            <a:ext cx="342900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2112264" y="5102352"/>
            <a:ext cx="3337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Nike Club Stadium Parka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532120" y="5056632"/>
            <a:ext cx="269748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586984" y="5102352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FB7320 (Blu/Bianco F410 o Nero F010)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275320" y="5056632"/>
            <a:ext cx="150876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8330184" y="5102352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A8B5CC"/>
                </a:solidFill>
                <a:latin typeface="Calibri"/>
              </a:rPr>
              <a:t>219,95 EUR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829800" y="5056632"/>
            <a:ext cx="150876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9884664" y="5102352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4AC06E"/>
                </a:solidFill>
                <a:latin typeface="Calibri"/>
              </a:rPr>
              <a:t>153,96 EUR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68680" y="5294376"/>
            <a:ext cx="10469880" cy="23774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960120" y="5340096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1428"/>
                </a:solidFill>
                <a:latin typeface="Arial Black"/>
              </a:rPr>
              <a:t>TOTALE 1 ATLETA  (Nike)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275320" y="5340096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1428"/>
                </a:solidFill>
                <a:latin typeface="Calibri"/>
              </a:rPr>
              <a:t>219,95 EUR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829800" y="5340096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1428"/>
                </a:solidFill>
                <a:latin typeface="Calibri"/>
              </a:rPr>
              <a:t>153,96 EUR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DFB16C"/>
                </a:solidFill>
                <a:latin typeface="Arial Black"/>
              </a:rPr>
              <a:t>11  ·  GIACCA INVERNALE  ·  CONFRONTO 25 ATLETI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457200" cy="73152"/>
          </a:xfrm>
          <a:prstGeom prst="rect">
            <a:avLst/>
          </a:prstGeom>
          <a:solidFill>
            <a:srgbClr val="DFB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F5F7FA"/>
                </a:solidFill>
                <a:latin typeface="Arial Black"/>
              </a:rPr>
              <a:t>Giacca invernale — totale per 25 atleti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83080"/>
            <a:ext cx="1051560" cy="411480"/>
          </a:xfrm>
          <a:prstGeom prst="rect">
            <a:avLst/>
          </a:prstGeom>
          <a:solidFill>
            <a:srgbClr val="DFB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901952"/>
            <a:ext cx="9509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0A1428"/>
                </a:solidFill>
                <a:latin typeface="Arial Black"/>
              </a:rPr>
              <a:t>Brand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1783080"/>
            <a:ext cx="4069080" cy="411480"/>
          </a:xfrm>
          <a:prstGeom prst="rect">
            <a:avLst/>
          </a:prstGeom>
          <a:solidFill>
            <a:srgbClr val="DFB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901952" y="1901952"/>
            <a:ext cx="39684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0A1428"/>
                </a:solidFill>
                <a:latin typeface="Arial Black"/>
              </a:rPr>
              <a:t>Opzione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783080"/>
            <a:ext cx="1783080" cy="411480"/>
          </a:xfrm>
          <a:prstGeom prst="rect">
            <a:avLst/>
          </a:prstGeom>
          <a:solidFill>
            <a:srgbClr val="DFB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16752" y="1901952"/>
            <a:ext cx="16824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0A1428"/>
                </a:solidFill>
                <a:latin typeface="Arial Black"/>
              </a:rPr>
              <a:t>Capo singolo (scontato)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1783080"/>
            <a:ext cx="777240" cy="411480"/>
          </a:xfrm>
          <a:prstGeom prst="rect">
            <a:avLst/>
          </a:prstGeom>
          <a:solidFill>
            <a:srgbClr val="DFB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45552" y="1901952"/>
            <a:ext cx="6766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0A1428"/>
                </a:solidFill>
                <a:latin typeface="Arial Black"/>
              </a:rPr>
              <a:t>+Pers.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95360" y="1783080"/>
            <a:ext cx="1234440" cy="411480"/>
          </a:xfrm>
          <a:prstGeom prst="rect">
            <a:avLst/>
          </a:prstGeom>
          <a:solidFill>
            <a:srgbClr val="DFB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68512" y="1901952"/>
            <a:ext cx="11338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0A1428"/>
                </a:solidFill>
                <a:latin typeface="Arial Black"/>
              </a:rPr>
              <a:t>1 atleta tot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75520" y="1783080"/>
            <a:ext cx="2240280" cy="411480"/>
          </a:xfrm>
          <a:prstGeom prst="rect">
            <a:avLst/>
          </a:prstGeom>
          <a:solidFill>
            <a:srgbClr val="DFB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948672" y="1901952"/>
            <a:ext cx="21396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0A1428"/>
                </a:solidFill>
                <a:latin typeface="Arial Black"/>
              </a:rPr>
              <a:t>25 ATLETI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194560"/>
            <a:ext cx="1051560" cy="411480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" y="2249424"/>
            <a:ext cx="95097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4AC06E"/>
                </a:solidFill>
                <a:latin typeface="Calibri"/>
              </a:rPr>
              <a:t>Adidas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0" y="2194560"/>
            <a:ext cx="4069080" cy="411480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901952" y="2249424"/>
            <a:ext cx="39684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ENTRY ECONOMICO</a:t>
            </a:r>
          </a:p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Entrada 26 Winter Jacket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2194560"/>
            <a:ext cx="1783080" cy="411480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16752" y="2249424"/>
            <a:ext cx="16824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52,75 EUR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0" y="2194560"/>
            <a:ext cx="777240" cy="411480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845552" y="2249424"/>
            <a:ext cx="67665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10,00 EUR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95360" y="2194560"/>
            <a:ext cx="1234440" cy="411480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68512" y="2249424"/>
            <a:ext cx="113385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62,75 EUR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75520" y="2194560"/>
            <a:ext cx="2240280" cy="411480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948672" y="2249424"/>
            <a:ext cx="21396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4AC06E"/>
                </a:solidFill>
                <a:latin typeface="Calibri"/>
              </a:rPr>
              <a:t>1.568,75 EUR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2606040"/>
            <a:ext cx="1051560" cy="41148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4672" y="2660904"/>
            <a:ext cx="95097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DFB16C"/>
                </a:solidFill>
                <a:latin typeface="Calibri"/>
              </a:rPr>
              <a:t>Adidas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0" y="2606040"/>
            <a:ext cx="4069080" cy="41148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901952" y="2660904"/>
            <a:ext cx="39684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MID RACCOMANDATO</a:t>
            </a:r>
          </a:p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Tiro 24 Winter Jacket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0" y="2606040"/>
            <a:ext cx="1783080" cy="41148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016752" y="2660904"/>
            <a:ext cx="16824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80,56 EUR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0" y="2606040"/>
            <a:ext cx="777240" cy="41148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845552" y="2660904"/>
            <a:ext cx="67665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10,00 EUR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95360" y="2606040"/>
            <a:ext cx="1234440" cy="41148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668512" y="2660904"/>
            <a:ext cx="113385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90,56 EUR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875520" y="2606040"/>
            <a:ext cx="2240280" cy="41148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948672" y="2660904"/>
            <a:ext cx="21396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DFB16C"/>
                </a:solidFill>
                <a:latin typeface="Calibri"/>
              </a:rPr>
              <a:t>2.264,00 EUR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" y="3017520"/>
            <a:ext cx="1051560" cy="411480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04672" y="3072384"/>
            <a:ext cx="95097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E8A83E"/>
                </a:solidFill>
                <a:latin typeface="Calibri"/>
              </a:rPr>
              <a:t>Nike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828800" y="3017520"/>
            <a:ext cx="4069080" cy="411480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901952" y="3072384"/>
            <a:ext cx="39684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ENTRY</a:t>
            </a:r>
          </a:p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Park 26 Winter Jacket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43600" y="3017520"/>
            <a:ext cx="1783080" cy="411480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016752" y="3072384"/>
            <a:ext cx="16824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80,69 EUR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72400" y="3017520"/>
            <a:ext cx="777240" cy="411480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845552" y="3072384"/>
            <a:ext cx="67665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10,00 EUR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595360" y="3017520"/>
            <a:ext cx="1234440" cy="411480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668512" y="3072384"/>
            <a:ext cx="113385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90,69 EUR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875520" y="3017520"/>
            <a:ext cx="2240280" cy="411480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948672" y="3072384"/>
            <a:ext cx="21396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5F7FA"/>
                </a:solidFill>
                <a:latin typeface="Calibri"/>
              </a:rPr>
              <a:t>2.267,25 EUR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31520" y="3429000"/>
            <a:ext cx="1051560" cy="41148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04672" y="3483864"/>
            <a:ext cx="95097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6B2FF"/>
                </a:solidFill>
                <a:latin typeface="Calibri"/>
              </a:rPr>
              <a:t>Adidas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0" y="3429000"/>
            <a:ext cx="4069080" cy="41148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901952" y="3483864"/>
            <a:ext cx="39684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TOP PARKA DA PANCHINA</a:t>
            </a:r>
          </a:p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Tiro 26 Stadium Parka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943600" y="3429000"/>
            <a:ext cx="1783080" cy="41148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016752" y="3483864"/>
            <a:ext cx="16824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99,29 EUR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772400" y="3429000"/>
            <a:ext cx="777240" cy="41148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845552" y="3483864"/>
            <a:ext cx="67665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10,00 EUR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595360" y="3429000"/>
            <a:ext cx="1234440" cy="41148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668512" y="3483864"/>
            <a:ext cx="113385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109,29 EUR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875520" y="3429000"/>
            <a:ext cx="2240280" cy="41148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948672" y="3483864"/>
            <a:ext cx="21396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5F7FA"/>
                </a:solidFill>
                <a:latin typeface="Calibri"/>
              </a:rPr>
              <a:t>2.732,25 EUR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31520" y="3840480"/>
            <a:ext cx="1051560" cy="411480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04672" y="3895344"/>
            <a:ext cx="95097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DFB16C"/>
                </a:solidFill>
                <a:latin typeface="Calibri"/>
              </a:rPr>
              <a:t>Nike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28800" y="3840480"/>
            <a:ext cx="4069080" cy="411480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901952" y="3895344"/>
            <a:ext cx="39684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MID 2-IN-1 STAFF</a:t>
            </a:r>
          </a:p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Academy Pro Therma 2in1 Insulated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943600" y="3840480"/>
            <a:ext cx="1783080" cy="411480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016752" y="3895344"/>
            <a:ext cx="16824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105,36 EUR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772400" y="3840480"/>
            <a:ext cx="777240" cy="411480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845552" y="3895344"/>
            <a:ext cx="67665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10,00 EUR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595360" y="3840480"/>
            <a:ext cx="1234440" cy="411480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8668512" y="3895344"/>
            <a:ext cx="113385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115,36 EUR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875520" y="3840480"/>
            <a:ext cx="2240280" cy="411480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9948672" y="3895344"/>
            <a:ext cx="21396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5F7FA"/>
                </a:solidFill>
                <a:latin typeface="Calibri"/>
              </a:rPr>
              <a:t>2.884,00 EUR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31520" y="4251960"/>
            <a:ext cx="1051560" cy="41148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04672" y="4306824"/>
            <a:ext cx="95097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  <a:latin typeface="Calibri"/>
              </a:rPr>
              <a:t>Nike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828800" y="4251960"/>
            <a:ext cx="4069080" cy="41148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1901952" y="4306824"/>
            <a:ext cx="39684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TOP PARKA DA PANCHINA</a:t>
            </a:r>
          </a:p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Club Stadium Parka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943600" y="4251960"/>
            <a:ext cx="1783080" cy="41148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6016752" y="4306824"/>
            <a:ext cx="16824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153,96 EUR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772400" y="4251960"/>
            <a:ext cx="777240" cy="41148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845552" y="4306824"/>
            <a:ext cx="67665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10,00 EUR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595360" y="4251960"/>
            <a:ext cx="1234440" cy="41148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8668512" y="4306824"/>
            <a:ext cx="113385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163,96 EUR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875520" y="4251960"/>
            <a:ext cx="2240280" cy="41148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9948672" y="4306824"/>
            <a:ext cx="21396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5F7FA"/>
                </a:solidFill>
                <a:latin typeface="Calibri"/>
              </a:rPr>
              <a:t>4.099,00 EUR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31520" y="493776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A8B5CC"/>
                </a:solidFill>
                <a:latin typeface="Calibri"/>
              </a:rPr>
              <a:t>Personalizzazione standard inclusa: logo Orbassano ricamato = 10,00 EUR/atleta. Costo impianto ricamo logo (una tantum) escluso (~30 EUR).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31520" y="521208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A8B5CC"/>
                </a:solidFill>
                <a:latin typeface="Calibri"/>
              </a:rPr>
              <a:t>VERDE = soluzione piu' economica  ·  ORO = secondo miglior prezzo  ·  Riga top = ranking ascending per costo totale 25 atleti.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DFB16C"/>
                </a:solidFill>
                <a:latin typeface="Arial Black"/>
              </a:rPr>
              <a:t>12  ·  K-WAY ANTIVENTO  ·  ADIDAS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457200" cy="73152"/>
          </a:xfrm>
          <a:prstGeom prst="rect">
            <a:avLst/>
          </a:prstGeom>
          <a:solidFill>
            <a:srgbClr val="DFB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5F7FA"/>
                </a:solidFill>
                <a:latin typeface="Arial Black"/>
              </a:rPr>
              <a:t>K-way antivento — Adidas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789920" cy="45720"/>
          </a:xfrm>
          <a:prstGeom prst="rect">
            <a:avLst/>
          </a:prstGeom>
          <a:solidFill>
            <a:srgbClr val="4AC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490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4AC06E"/>
                </a:solidFill>
                <a:latin typeface="Arial Black"/>
              </a:rPr>
              <a:t>BEST FIT BRAND ORBASSANO (rosso O navy a catalogo)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746504"/>
            <a:ext cx="10515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F5F7FA"/>
                </a:solidFill>
                <a:latin typeface="Calibri"/>
              </a:rPr>
              <a:t>Tiro 26 League Windbreaker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984248"/>
            <a:ext cx="114300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23544" y="2029968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Capo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57400" y="1984248"/>
            <a:ext cx="342900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112264" y="2029968"/>
            <a:ext cx="3337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Modello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32120" y="1984248"/>
            <a:ext cx="269748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586984" y="2029968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Codice/Colorway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75320" y="1984248"/>
            <a:ext cx="150876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30184" y="2029968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Listino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829800" y="1984248"/>
            <a:ext cx="150876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884664" y="2029968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Scontato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2221992"/>
            <a:ext cx="114300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3544" y="2267712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K-way antivento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57400" y="2221992"/>
            <a:ext cx="342900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112264" y="2267712"/>
            <a:ext cx="3337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Adidas Tiro 26 League Windbreaker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32120" y="2221992"/>
            <a:ext cx="269748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586984" y="2267712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var. rosso, dark blue, verde, bianco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75320" y="2221992"/>
            <a:ext cx="150876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30184" y="2267712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A8B5CC"/>
                </a:solidFill>
                <a:latin typeface="Calibri"/>
              </a:rPr>
              <a:t>59,95 EUR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29800" y="2221992"/>
            <a:ext cx="150876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884664" y="2267712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4AC06E"/>
                </a:solidFill>
                <a:latin typeface="Calibri"/>
              </a:rPr>
              <a:t>37,19 EUR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8680" y="2459736"/>
            <a:ext cx="10469880" cy="237744"/>
          </a:xfrm>
          <a:prstGeom prst="rect">
            <a:avLst/>
          </a:prstGeom>
          <a:solidFill>
            <a:srgbClr val="4AC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60120" y="2505456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1428"/>
                </a:solidFill>
                <a:latin typeface="Arial Black"/>
              </a:rPr>
              <a:t>TOTALE 1 ATLETA  (Adidas)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2505456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1428"/>
                </a:solidFill>
                <a:latin typeface="Calibri"/>
              </a:rPr>
              <a:t>59,95 EUR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29800" y="2505456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1428"/>
                </a:solidFill>
                <a:latin typeface="Calibri"/>
              </a:rPr>
              <a:t>37,19 EUR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2734056"/>
            <a:ext cx="10652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1">
                <a:solidFill>
                  <a:srgbClr val="E8A83E"/>
                </a:solidFill>
                <a:latin typeface="Calibri"/>
              </a:rPr>
              <a:t>NOTA: UNICO modello in ricerca con rosso E navy a catalogo simultaneamente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3063240"/>
            <a:ext cx="10789920" cy="45720"/>
          </a:xfrm>
          <a:prstGeom prst="rect">
            <a:avLst/>
          </a:prstGeom>
          <a:solidFill>
            <a:srgbClr val="DFB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8680" y="313639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DFB16C"/>
                </a:solidFill>
                <a:latin typeface="Arial Black"/>
              </a:rPr>
              <a:t>MID COMPETITION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3392424"/>
            <a:ext cx="10515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F5F7FA"/>
                </a:solidFill>
                <a:latin typeface="Calibri"/>
              </a:rPr>
              <a:t>Tiro 26 Competition Jacket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8680" y="3630168"/>
            <a:ext cx="114300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23544" y="3675888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Capo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57400" y="3630168"/>
            <a:ext cx="342900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112264" y="3675888"/>
            <a:ext cx="3337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Modello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32120" y="3630168"/>
            <a:ext cx="269748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586984" y="3675888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Codice/Colorway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75320" y="3630168"/>
            <a:ext cx="150876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330184" y="3675888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Listino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829800" y="3630168"/>
            <a:ext cx="150876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884664" y="3675888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Scontato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68680" y="3867912"/>
            <a:ext cx="114300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23544" y="3913632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Giacca competition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057400" y="3867912"/>
            <a:ext cx="342900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112264" y="3913632"/>
            <a:ext cx="3337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Adidas Tiro 26 Competition Jacket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532120" y="3867912"/>
            <a:ext cx="269748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586984" y="3913632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JY8869 (var. rosso, dark blue, nero)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75320" y="3867912"/>
            <a:ext cx="150876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330184" y="3913632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A8B5CC"/>
                </a:solidFill>
                <a:latin typeface="Calibri"/>
              </a:rPr>
              <a:t>79,95 EUR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829800" y="3867912"/>
            <a:ext cx="150876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884664" y="3913632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4AC06E"/>
                </a:solidFill>
                <a:latin typeface="Calibri"/>
              </a:rPr>
              <a:t>49,56 EUR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68680" y="4105656"/>
            <a:ext cx="10469880" cy="237744"/>
          </a:xfrm>
          <a:prstGeom prst="rect">
            <a:avLst/>
          </a:prstGeom>
          <a:solidFill>
            <a:srgbClr val="DFB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60120" y="4151376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1428"/>
                </a:solidFill>
                <a:latin typeface="Arial Black"/>
              </a:rPr>
              <a:t>TOTALE 1 ATLETA  (Adidas)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75320" y="4151376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1428"/>
                </a:solidFill>
                <a:latin typeface="Calibri"/>
              </a:rPr>
              <a:t>79,95 EUR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829800" y="4151376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1428"/>
                </a:solidFill>
                <a:latin typeface="Calibri"/>
              </a:rPr>
              <a:t>49,56 EUR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31520" y="4480560"/>
            <a:ext cx="10789920" cy="45720"/>
          </a:xfrm>
          <a:prstGeom prst="rect">
            <a:avLst/>
          </a:prstGeom>
          <a:solidFill>
            <a:srgbClr val="66B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68680" y="455371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6B2FF"/>
                </a:solidFill>
                <a:latin typeface="Arial Black"/>
              </a:rPr>
              <a:t>TOP IMPERMEABILE VERO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68680" y="4809744"/>
            <a:ext cx="10515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F5F7FA"/>
                </a:solidFill>
                <a:latin typeface="Calibri"/>
              </a:rPr>
              <a:t>Tiro 24 Rain Jacket RAIN.RDY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68680" y="5047488"/>
            <a:ext cx="114300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23544" y="5093208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Capo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057400" y="5047488"/>
            <a:ext cx="342900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2112264" y="5093208"/>
            <a:ext cx="3337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Modello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532120" y="5047488"/>
            <a:ext cx="269748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586984" y="5093208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Codice/Colorway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275320" y="5047488"/>
            <a:ext cx="150876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8330184" y="5093208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Listino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829800" y="5047488"/>
            <a:ext cx="150876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9884664" y="5093208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Scontato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68680" y="5285232"/>
            <a:ext cx="114300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23544" y="5330952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Impermeabile RAIN.RDY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057400" y="5285232"/>
            <a:ext cx="342900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2112264" y="5330952"/>
            <a:ext cx="3337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Adidas Tiro 24 Rain Jacket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532120" y="5285232"/>
            <a:ext cx="269748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5586984" y="5330952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IP6668 (Nero principalmente)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275320" y="5285232"/>
            <a:ext cx="150876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8330184" y="5330952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A8B5CC"/>
                </a:solidFill>
                <a:latin typeface="Calibri"/>
              </a:rPr>
              <a:t>129,95 EUR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829800" y="5285232"/>
            <a:ext cx="150876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9884664" y="5330952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4AC06E"/>
                </a:solidFill>
                <a:latin typeface="Calibri"/>
              </a:rPr>
              <a:t>80,56 EUR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68680" y="5522976"/>
            <a:ext cx="10469880" cy="237744"/>
          </a:xfrm>
          <a:prstGeom prst="rect">
            <a:avLst/>
          </a:prstGeom>
          <a:solidFill>
            <a:srgbClr val="66B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960120" y="5568696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1428"/>
                </a:solidFill>
                <a:latin typeface="Arial Black"/>
              </a:rPr>
              <a:t>TOTALE 1 ATLETA  (Adidas)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275320" y="5568696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1428"/>
                </a:solidFill>
                <a:latin typeface="Calibri"/>
              </a:rPr>
              <a:t>129,95 EUR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829800" y="5568696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1428"/>
                </a:solidFill>
                <a:latin typeface="Calibri"/>
              </a:rPr>
              <a:t>80,56 EUR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DFB16C"/>
                </a:solidFill>
                <a:latin typeface="Arial Black"/>
              </a:rPr>
              <a:t>13  ·  K-WAY ANTIVENTO  ·  NIKE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457200" cy="73152"/>
          </a:xfrm>
          <a:prstGeom prst="rect">
            <a:avLst/>
          </a:prstGeom>
          <a:solidFill>
            <a:srgbClr val="DFB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5F7FA"/>
                </a:solidFill>
                <a:latin typeface="Arial Black"/>
              </a:rPr>
              <a:t>K-way antivento — Nike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789920" cy="45720"/>
          </a:xfrm>
          <a:prstGeom prst="rect">
            <a:avLst/>
          </a:prstGeom>
          <a:solidFill>
            <a:srgbClr val="4AC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49047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4AC06E"/>
                </a:solidFill>
                <a:latin typeface="Arial Black"/>
              </a:rPr>
              <a:t>ENTRY SUPER PROMO (rosso disponibile)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746504"/>
            <a:ext cx="10515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F5F7FA"/>
                </a:solidFill>
                <a:latin typeface="Calibri"/>
              </a:rPr>
              <a:t>Park 20 Rain Jacket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984248"/>
            <a:ext cx="114300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23544" y="2029968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Capo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57400" y="1984248"/>
            <a:ext cx="342900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112264" y="2029968"/>
            <a:ext cx="3337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Modello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32120" y="1984248"/>
            <a:ext cx="269748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586984" y="2029968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Codice/Colorway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75320" y="1984248"/>
            <a:ext cx="150876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30184" y="2029968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Listino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829800" y="1984248"/>
            <a:ext cx="150876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884664" y="2029968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Scontato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2221992"/>
            <a:ext cx="114300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3544" y="2267712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K-way antivento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57400" y="2221992"/>
            <a:ext cx="342900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112264" y="2267712"/>
            <a:ext cx="3337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Nike Park 20 Rain Jacket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32120" y="2221992"/>
            <a:ext cx="269748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586984" y="2267712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BV6881 (rosso F657, navy F410, nero)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75320" y="2221992"/>
            <a:ext cx="150876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30184" y="2267712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A8B5CC"/>
                </a:solidFill>
                <a:latin typeface="Calibri"/>
              </a:rPr>
              <a:t>44,95 EUR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29800" y="2221992"/>
            <a:ext cx="150876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884664" y="2267712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4AC06E"/>
                </a:solidFill>
                <a:latin typeface="Calibri"/>
              </a:rPr>
              <a:t>17,87 EUR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8680" y="2459736"/>
            <a:ext cx="10469880" cy="237744"/>
          </a:xfrm>
          <a:prstGeom prst="rect">
            <a:avLst/>
          </a:prstGeom>
          <a:solidFill>
            <a:srgbClr val="4AC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60120" y="2505456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1428"/>
                </a:solidFill>
                <a:latin typeface="Arial Black"/>
              </a:rPr>
              <a:t>TOTALE 1 ATLETA  (Nike)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2505456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1428"/>
                </a:solidFill>
                <a:latin typeface="Calibri"/>
              </a:rPr>
              <a:t>44,95 EUR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29800" y="2505456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1428"/>
                </a:solidFill>
                <a:latin typeface="Calibri"/>
              </a:rPr>
              <a:t>17,87 EUR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2834640"/>
            <a:ext cx="10789920" cy="45720"/>
          </a:xfrm>
          <a:prstGeom prst="rect">
            <a:avLst/>
          </a:prstGeom>
          <a:solidFill>
            <a:srgbClr val="DFB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68680" y="290779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DFB16C"/>
                </a:solidFill>
                <a:latin typeface="Arial Black"/>
              </a:rPr>
              <a:t>ENTRY+ IDROREPELLENTE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3163824"/>
            <a:ext cx="10515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F5F7FA"/>
                </a:solidFill>
                <a:latin typeface="Calibri"/>
              </a:rPr>
              <a:t>Repel Park 20 Rain Jacket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8680" y="3401568"/>
            <a:ext cx="114300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23544" y="3447288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Capo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057400" y="3401568"/>
            <a:ext cx="342900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112264" y="3447288"/>
            <a:ext cx="3337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Modello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532120" y="3401568"/>
            <a:ext cx="269748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586984" y="3447288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Codice/Colorway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75320" y="3401568"/>
            <a:ext cx="150876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330184" y="3447288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Listino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829800" y="3401568"/>
            <a:ext cx="150876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884664" y="3447288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Scontato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68680" y="3639312"/>
            <a:ext cx="114300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23544" y="3685032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K-way Repel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057400" y="3639312"/>
            <a:ext cx="342900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112264" y="3685032"/>
            <a:ext cx="3337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Nike Repel Park 20 Rain Jacket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532120" y="3639312"/>
            <a:ext cx="269748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586984" y="3685032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BV6895 (rosso F657, navy F410)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75320" y="3639312"/>
            <a:ext cx="150876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330184" y="3685032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A8B5CC"/>
                </a:solidFill>
                <a:latin typeface="Calibri"/>
              </a:rPr>
              <a:t>44,95 EUR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829800" y="3639312"/>
            <a:ext cx="150876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884664" y="3685032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4AC06E"/>
                </a:solidFill>
                <a:latin typeface="Calibri"/>
              </a:rPr>
              <a:t>17,87 EUR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68680" y="3877056"/>
            <a:ext cx="10469880" cy="237744"/>
          </a:xfrm>
          <a:prstGeom prst="rect">
            <a:avLst/>
          </a:prstGeom>
          <a:solidFill>
            <a:srgbClr val="DFB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60120" y="3922776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1428"/>
                </a:solidFill>
                <a:latin typeface="Arial Black"/>
              </a:rPr>
              <a:t>TOTALE 1 ATLETA  (Nike)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75320" y="3922776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1428"/>
                </a:solidFill>
                <a:latin typeface="Calibri"/>
              </a:rPr>
              <a:t>44,95 EUR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29800" y="3922776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1428"/>
                </a:solidFill>
                <a:latin typeface="Calibri"/>
              </a:rPr>
              <a:t>17,87 EUR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31520" y="4251960"/>
            <a:ext cx="10789920" cy="4572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68680" y="432511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  <a:latin typeface="Arial Black"/>
              </a:rPr>
              <a:t>TOP STORM-FIT IMPERMEABILE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68680" y="4581144"/>
            <a:ext cx="10515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F5F7FA"/>
                </a:solidFill>
                <a:latin typeface="Calibri"/>
              </a:rPr>
              <a:t>Storm-Fit Academy Pro 24 Rain Jacket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68680" y="4818888"/>
            <a:ext cx="114300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23544" y="4864608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Capo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057400" y="4818888"/>
            <a:ext cx="342900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2112264" y="4864608"/>
            <a:ext cx="3337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Modello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532120" y="4818888"/>
            <a:ext cx="269748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586984" y="4864608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Codice/Colorway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275320" y="4818888"/>
            <a:ext cx="150876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330184" y="4864608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Listino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829800" y="4818888"/>
            <a:ext cx="1508760" cy="237744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9884664" y="4864608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Scontato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68680" y="5056632"/>
            <a:ext cx="114300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923544" y="5102352"/>
            <a:ext cx="1051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Storm-Fit impermeabile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057400" y="5056632"/>
            <a:ext cx="342900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2112264" y="5102352"/>
            <a:ext cx="3337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Nike Storm-Fit Academy Pro 24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532120" y="5056632"/>
            <a:ext cx="269748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586984" y="5102352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FD7686 / FD7699 (Nero/Bianco)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275320" y="5056632"/>
            <a:ext cx="150876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8330184" y="5102352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A8B5CC"/>
                </a:solidFill>
                <a:latin typeface="Calibri"/>
              </a:rPr>
              <a:t>103,70 EUR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829800" y="5056632"/>
            <a:ext cx="1508760" cy="237744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9884664" y="5102352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4AC06E"/>
                </a:solidFill>
                <a:latin typeface="Calibri"/>
              </a:rPr>
              <a:t>72,40 EUR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68680" y="5294376"/>
            <a:ext cx="10469880" cy="23774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960120" y="5340096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1428"/>
                </a:solidFill>
                <a:latin typeface="Arial Black"/>
              </a:rPr>
              <a:t>TOTALE 1 ATLETA  (Nike)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275320" y="5340096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1428"/>
                </a:solidFill>
                <a:latin typeface="Calibri"/>
              </a:rPr>
              <a:t>103,70 EUR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829800" y="5340096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1428"/>
                </a:solidFill>
                <a:latin typeface="Calibri"/>
              </a:rPr>
              <a:t>72,40 EUR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DFB16C"/>
                </a:solidFill>
                <a:latin typeface="Arial Black"/>
              </a:rPr>
              <a:t>14  ·  K-WAY ANTIVENTO  ·  CONFRONTO 25 ATLETI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457200" cy="73152"/>
          </a:xfrm>
          <a:prstGeom prst="rect">
            <a:avLst/>
          </a:prstGeom>
          <a:solidFill>
            <a:srgbClr val="DFB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F5F7FA"/>
                </a:solidFill>
                <a:latin typeface="Arial Black"/>
              </a:rPr>
              <a:t>K-way antivento — totale per 25 atleti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83080"/>
            <a:ext cx="1051560" cy="411480"/>
          </a:xfrm>
          <a:prstGeom prst="rect">
            <a:avLst/>
          </a:prstGeom>
          <a:solidFill>
            <a:srgbClr val="DFB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901952"/>
            <a:ext cx="9509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0A1428"/>
                </a:solidFill>
                <a:latin typeface="Arial Black"/>
              </a:rPr>
              <a:t>Brand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1783080"/>
            <a:ext cx="4069080" cy="411480"/>
          </a:xfrm>
          <a:prstGeom prst="rect">
            <a:avLst/>
          </a:prstGeom>
          <a:solidFill>
            <a:srgbClr val="DFB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901952" y="1901952"/>
            <a:ext cx="39684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0A1428"/>
                </a:solidFill>
                <a:latin typeface="Arial Black"/>
              </a:rPr>
              <a:t>Opzione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783080"/>
            <a:ext cx="1783080" cy="411480"/>
          </a:xfrm>
          <a:prstGeom prst="rect">
            <a:avLst/>
          </a:prstGeom>
          <a:solidFill>
            <a:srgbClr val="DFB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16752" y="1901952"/>
            <a:ext cx="16824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0A1428"/>
                </a:solidFill>
                <a:latin typeface="Arial Black"/>
              </a:rPr>
              <a:t>Capo singolo (scontato)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1783080"/>
            <a:ext cx="777240" cy="411480"/>
          </a:xfrm>
          <a:prstGeom prst="rect">
            <a:avLst/>
          </a:prstGeom>
          <a:solidFill>
            <a:srgbClr val="DFB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45552" y="1901952"/>
            <a:ext cx="6766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0A1428"/>
                </a:solidFill>
                <a:latin typeface="Arial Black"/>
              </a:rPr>
              <a:t>+Pers.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95360" y="1783080"/>
            <a:ext cx="1234440" cy="411480"/>
          </a:xfrm>
          <a:prstGeom prst="rect">
            <a:avLst/>
          </a:prstGeom>
          <a:solidFill>
            <a:srgbClr val="DFB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68512" y="1901952"/>
            <a:ext cx="11338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0A1428"/>
                </a:solidFill>
                <a:latin typeface="Arial Black"/>
              </a:rPr>
              <a:t>1 atleta tot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75520" y="1783080"/>
            <a:ext cx="2240280" cy="411480"/>
          </a:xfrm>
          <a:prstGeom prst="rect">
            <a:avLst/>
          </a:prstGeom>
          <a:solidFill>
            <a:srgbClr val="DFB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948672" y="1901952"/>
            <a:ext cx="21396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0A1428"/>
                </a:solidFill>
                <a:latin typeface="Arial Black"/>
              </a:rPr>
              <a:t>25 ATLETI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194560"/>
            <a:ext cx="1051560" cy="411480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" y="2249424"/>
            <a:ext cx="95097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4AC06E"/>
                </a:solidFill>
                <a:latin typeface="Calibri"/>
              </a:rPr>
              <a:t>Nike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0" y="2194560"/>
            <a:ext cx="4069080" cy="411480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901952" y="2249424"/>
            <a:ext cx="39684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ENTRY SUPER PROMO (rosso disponibile)</a:t>
            </a:r>
          </a:p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Park 20 Rain Jacket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2194560"/>
            <a:ext cx="1783080" cy="411480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16752" y="2249424"/>
            <a:ext cx="16824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17,87 EUR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0" y="2194560"/>
            <a:ext cx="777240" cy="411480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845552" y="2249424"/>
            <a:ext cx="67665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8,00 EUR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95360" y="2194560"/>
            <a:ext cx="1234440" cy="411480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68512" y="2249424"/>
            <a:ext cx="113385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25,87 EUR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75520" y="2194560"/>
            <a:ext cx="2240280" cy="411480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948672" y="2249424"/>
            <a:ext cx="21396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4AC06E"/>
                </a:solidFill>
                <a:latin typeface="Calibri"/>
              </a:rPr>
              <a:t>646,75 EUR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2606040"/>
            <a:ext cx="1051560" cy="41148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4672" y="2660904"/>
            <a:ext cx="95097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DFB16C"/>
                </a:solidFill>
                <a:latin typeface="Calibri"/>
              </a:rPr>
              <a:t>Nike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0" y="2606040"/>
            <a:ext cx="4069080" cy="41148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901952" y="2660904"/>
            <a:ext cx="39684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ENTRY+ IDROREPELLENTE</a:t>
            </a:r>
          </a:p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Repel Park 20 Rain Jacket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0" y="2606040"/>
            <a:ext cx="1783080" cy="41148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016752" y="2660904"/>
            <a:ext cx="16824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17,87 EUR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0" y="2606040"/>
            <a:ext cx="777240" cy="41148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845552" y="2660904"/>
            <a:ext cx="67665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8,00 EUR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95360" y="2606040"/>
            <a:ext cx="1234440" cy="41148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668512" y="2660904"/>
            <a:ext cx="113385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25,87 EUR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875520" y="2606040"/>
            <a:ext cx="2240280" cy="41148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948672" y="2660904"/>
            <a:ext cx="21396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DFB16C"/>
                </a:solidFill>
                <a:latin typeface="Calibri"/>
              </a:rPr>
              <a:t>646,75 EUR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" y="3017520"/>
            <a:ext cx="1051560" cy="411480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04672" y="3072384"/>
            <a:ext cx="95097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4AC06E"/>
                </a:solidFill>
                <a:latin typeface="Calibri"/>
              </a:rPr>
              <a:t>Adidas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828800" y="3017520"/>
            <a:ext cx="4069080" cy="411480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901952" y="3072384"/>
            <a:ext cx="39684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BEST FIT BRAND ORBASSANO (rosso O navy a catalogo)</a:t>
            </a:r>
          </a:p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Tiro 26 League Windbreaker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43600" y="3017520"/>
            <a:ext cx="1783080" cy="411480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016752" y="3072384"/>
            <a:ext cx="16824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37,19 EUR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72400" y="3017520"/>
            <a:ext cx="777240" cy="411480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845552" y="3072384"/>
            <a:ext cx="67665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8,00 EUR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595360" y="3017520"/>
            <a:ext cx="1234440" cy="411480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668512" y="3072384"/>
            <a:ext cx="113385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45,19 EUR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875520" y="3017520"/>
            <a:ext cx="2240280" cy="411480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948672" y="3072384"/>
            <a:ext cx="21396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5F7FA"/>
                </a:solidFill>
                <a:latin typeface="Calibri"/>
              </a:rPr>
              <a:t>1.129,75 EUR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31520" y="3429000"/>
            <a:ext cx="1051560" cy="41148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04672" y="3483864"/>
            <a:ext cx="95097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DFB16C"/>
                </a:solidFill>
                <a:latin typeface="Calibri"/>
              </a:rPr>
              <a:t>Adidas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0" y="3429000"/>
            <a:ext cx="4069080" cy="41148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901952" y="3483864"/>
            <a:ext cx="39684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MID COMPETITION</a:t>
            </a:r>
          </a:p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Tiro 26 Competition Jacket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943600" y="3429000"/>
            <a:ext cx="1783080" cy="41148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016752" y="3483864"/>
            <a:ext cx="16824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49,56 EUR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772400" y="3429000"/>
            <a:ext cx="777240" cy="41148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845552" y="3483864"/>
            <a:ext cx="67665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8,00 EUR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595360" y="3429000"/>
            <a:ext cx="1234440" cy="41148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668512" y="3483864"/>
            <a:ext cx="113385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57,56 EUR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875520" y="3429000"/>
            <a:ext cx="2240280" cy="41148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948672" y="3483864"/>
            <a:ext cx="21396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5F7FA"/>
                </a:solidFill>
                <a:latin typeface="Calibri"/>
              </a:rPr>
              <a:t>1.439,00 EUR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31520" y="3840480"/>
            <a:ext cx="1051560" cy="411480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04672" y="3895344"/>
            <a:ext cx="95097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  <a:latin typeface="Calibri"/>
              </a:rPr>
              <a:t>Nike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28800" y="3840480"/>
            <a:ext cx="4069080" cy="411480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901952" y="3895344"/>
            <a:ext cx="39684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TOP STORM-FIT IMPERMEABILE</a:t>
            </a:r>
          </a:p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Storm-Fit Academy Pro 24 Rain Jacket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943600" y="3840480"/>
            <a:ext cx="1783080" cy="411480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016752" y="3895344"/>
            <a:ext cx="16824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72,40 EUR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772400" y="3840480"/>
            <a:ext cx="777240" cy="411480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845552" y="3895344"/>
            <a:ext cx="67665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8,00 EUR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595360" y="3840480"/>
            <a:ext cx="1234440" cy="411480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8668512" y="3895344"/>
            <a:ext cx="113385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80,40 EUR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875520" y="3840480"/>
            <a:ext cx="2240280" cy="411480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9948672" y="3895344"/>
            <a:ext cx="21396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5F7FA"/>
                </a:solidFill>
                <a:latin typeface="Calibri"/>
              </a:rPr>
              <a:t>2.010,00 EUR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31520" y="4251960"/>
            <a:ext cx="1051560" cy="41148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04672" y="4306824"/>
            <a:ext cx="95097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6B2FF"/>
                </a:solidFill>
                <a:latin typeface="Calibri"/>
              </a:rPr>
              <a:t>Adidas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828800" y="4251960"/>
            <a:ext cx="4069080" cy="41148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1901952" y="4306824"/>
            <a:ext cx="39684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TOP IMPERMEABILE VERO</a:t>
            </a:r>
          </a:p>
          <a:p>
            <a:pPr algn="l"/>
            <a:r>
              <a:rPr sz="800" b="0" i="0">
                <a:solidFill>
                  <a:srgbClr val="F5F7FA"/>
                </a:solidFill>
                <a:latin typeface="Calibri"/>
              </a:rPr>
              <a:t>Tiro 24 Rain Jacket RAIN.RDY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943600" y="4251960"/>
            <a:ext cx="1783080" cy="41148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6016752" y="4306824"/>
            <a:ext cx="16824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80,56 EUR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772400" y="4251960"/>
            <a:ext cx="777240" cy="41148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845552" y="4306824"/>
            <a:ext cx="67665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8,00 EUR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595360" y="4251960"/>
            <a:ext cx="1234440" cy="41148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8668512" y="4306824"/>
            <a:ext cx="113385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88,56 EUR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875520" y="4251960"/>
            <a:ext cx="2240280" cy="41148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9948672" y="4306824"/>
            <a:ext cx="21396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5F7FA"/>
                </a:solidFill>
                <a:latin typeface="Calibri"/>
              </a:rPr>
              <a:t>2.214,00 EUR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31520" y="493776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A8B5CC"/>
                </a:solidFill>
                <a:latin typeface="Calibri"/>
              </a:rPr>
              <a:t>Personalizzazione standard inclusa: logo Orbassano stampato = 8,00 EUR/atleta. Costo impianto ricamo logo (una tantum) escluso (~30 EUR).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31520" y="521208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A8B5CC"/>
                </a:solidFill>
                <a:latin typeface="Calibri"/>
              </a:rPr>
              <a:t>VERDE = soluzione piu' economica  ·  ORO = secondo miglior prezzo  ·  Riga top = ranking ascending per costo totale 25 atleti.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DFB16C"/>
                </a:solidFill>
                <a:latin typeface="Arial Black"/>
              </a:rPr>
              <a:t>15  ·  TOTALE COMPLESSIVO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457200" cy="73152"/>
          </a:xfrm>
          <a:prstGeom prst="rect">
            <a:avLst/>
          </a:prstGeom>
          <a:solidFill>
            <a:srgbClr val="DFB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F5F7FA"/>
                </a:solidFill>
                <a:latin typeface="Arial Black"/>
              </a:rPr>
              <a:t>Investimento totale 25 atleti — 3 scenari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3703320" cy="4572000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3703320" cy="457200"/>
          </a:xfrm>
          <a:prstGeom prst="rect">
            <a:avLst/>
          </a:prstGeom>
          <a:solidFill>
            <a:srgbClr val="4AC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874520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A1428"/>
                </a:solidFill>
                <a:latin typeface="Arial Black"/>
              </a:rPr>
              <a:t>ECONOMICO ADIDAS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23160"/>
            <a:ext cx="3429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KIT GARA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624328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1">
                <a:solidFill>
                  <a:srgbClr val="F5F7FA"/>
                </a:solidFill>
                <a:latin typeface="Calibri"/>
              </a:rPr>
              <a:t>Squadra 25 + Squadra 25 short + Milano 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880360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A8B5CC"/>
                </a:solidFill>
                <a:latin typeface="Calibri"/>
              </a:rPr>
              <a:t>Atleta: 44,17 EUR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2880360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4AC06E"/>
                </a:solidFill>
                <a:latin typeface="Arial Black"/>
              </a:rPr>
              <a:t>1.104,25 EUR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200400"/>
            <a:ext cx="3429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TUTA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401568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1">
                <a:solidFill>
                  <a:srgbClr val="F5F7FA"/>
                </a:solidFill>
                <a:latin typeface="Calibri"/>
              </a:rPr>
              <a:t>Entrada 26 Top + Pant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657600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A8B5CC"/>
                </a:solidFill>
                <a:latin typeface="Calibri"/>
              </a:rPr>
              <a:t>Atleta: 67,79 EUR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3657600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4AC06E"/>
                </a:solidFill>
                <a:latin typeface="Arial Black"/>
              </a:rPr>
              <a:t>1.694,75 EUR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977640"/>
            <a:ext cx="3429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GIACCA INVERNALE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178808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1">
                <a:solidFill>
                  <a:srgbClr val="F5F7FA"/>
                </a:solidFill>
                <a:latin typeface="Calibri"/>
              </a:rPr>
              <a:t>Entrada 26 Winter Jacket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434840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A8B5CC"/>
                </a:solidFill>
                <a:latin typeface="Calibri"/>
              </a:rPr>
              <a:t>Atleta: 62,75 EUR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23160" y="4434840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4AC06E"/>
                </a:solidFill>
                <a:latin typeface="Arial Black"/>
              </a:rPr>
              <a:t>1.568,75 EUR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754880"/>
            <a:ext cx="3429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ANTIVENTO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956048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1">
                <a:solidFill>
                  <a:srgbClr val="F5F7FA"/>
                </a:solidFill>
                <a:latin typeface="Calibri"/>
              </a:rPr>
              <a:t>Tiro 26 League Windbreaker (rosso/navy)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212080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A8B5CC"/>
                </a:solidFill>
                <a:latin typeface="Calibri"/>
              </a:rPr>
              <a:t>Atleta: 45,19 EUR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5212080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4AC06E"/>
                </a:solidFill>
                <a:latin typeface="Arial Black"/>
              </a:rPr>
              <a:t>1.129,75 EUR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760720"/>
            <a:ext cx="3520440" cy="36576"/>
          </a:xfrm>
          <a:prstGeom prst="rect">
            <a:avLst/>
          </a:prstGeom>
          <a:solidFill>
            <a:srgbClr val="4AC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585216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DFB16C"/>
                </a:solidFill>
                <a:latin typeface="Arial Black"/>
              </a:rPr>
              <a:t>TOTALE 25 ATLETI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585216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800" b="1" i="0">
                <a:solidFill>
                  <a:srgbClr val="4AC06E"/>
                </a:solidFill>
                <a:latin typeface="Arial Black"/>
              </a:rPr>
              <a:t>5.497,50 EUR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43400" y="1783080"/>
            <a:ext cx="3703320" cy="4572000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343400" y="1783080"/>
            <a:ext cx="3703320" cy="457200"/>
          </a:xfrm>
          <a:prstGeom prst="rect">
            <a:avLst/>
          </a:prstGeom>
          <a:solidFill>
            <a:srgbClr val="DFB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80560" y="1874520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A1428"/>
                </a:solidFill>
                <a:latin typeface="Arial Black"/>
              </a:rPr>
              <a:t>RACCOMANDATO ADIDAS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2423160"/>
            <a:ext cx="3429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KIT GARA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2624328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1">
                <a:solidFill>
                  <a:srgbClr val="F5F7FA"/>
                </a:solidFill>
                <a:latin typeface="Calibri"/>
              </a:rPr>
              <a:t>Striped 24 (IW2149) + Squadra 25 short + Adisock 23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2880360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A8B5CC"/>
                </a:solidFill>
                <a:latin typeface="Calibri"/>
              </a:rPr>
              <a:t>Atleta: 51,58 EUR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2880360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DFB16C"/>
                </a:solidFill>
                <a:latin typeface="Arial Black"/>
              </a:rPr>
              <a:t>1.289,50 EUR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0" y="3200400"/>
            <a:ext cx="3429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TUTA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60" y="3401568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1">
                <a:solidFill>
                  <a:srgbClr val="F5F7FA"/>
                </a:solidFill>
                <a:latin typeface="Calibri"/>
              </a:rPr>
              <a:t>Tiro 24 Training Top + Pant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60" y="3657600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A8B5CC"/>
                </a:solidFill>
                <a:latin typeface="Calibri"/>
              </a:rPr>
              <a:t>Atleta: 80,12 EUR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3657600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DFB16C"/>
                </a:solidFill>
                <a:latin typeface="Arial Black"/>
              </a:rPr>
              <a:t>2.003,00 EUR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0560" y="3977640"/>
            <a:ext cx="3429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GIACCA INVERNALE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80560" y="4178808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1">
                <a:solidFill>
                  <a:srgbClr val="F5F7FA"/>
                </a:solidFill>
                <a:latin typeface="Calibri"/>
              </a:rPr>
              <a:t>Tiro 24 Winter Jacket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80560" y="4434840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A8B5CC"/>
                </a:solidFill>
                <a:latin typeface="Calibri"/>
              </a:rPr>
              <a:t>Atleta: 90,56 EUR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4434840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DFB16C"/>
                </a:solidFill>
                <a:latin typeface="Arial Black"/>
              </a:rPr>
              <a:t>2.264,00 EUR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80560" y="4754880"/>
            <a:ext cx="3429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ANTIVENTO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4956048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1">
                <a:solidFill>
                  <a:srgbClr val="F5F7FA"/>
                </a:solidFill>
                <a:latin typeface="Calibri"/>
              </a:rPr>
              <a:t>Tiro 26 League Windbreaker (rosso/navy)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80560" y="5212080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A8B5CC"/>
                </a:solidFill>
                <a:latin typeface="Calibri"/>
              </a:rPr>
              <a:t>Atleta: 45,19 EUR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0" y="5212080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DFB16C"/>
                </a:solidFill>
                <a:latin typeface="Arial Black"/>
              </a:rPr>
              <a:t>1.129,75 EUR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34840" y="5760720"/>
            <a:ext cx="3520440" cy="36576"/>
          </a:xfrm>
          <a:prstGeom prst="rect">
            <a:avLst/>
          </a:prstGeom>
          <a:solidFill>
            <a:srgbClr val="DFB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480560" y="585216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DFB16C"/>
                </a:solidFill>
                <a:latin typeface="Arial Black"/>
              </a:rPr>
              <a:t>TOTALE 25 ATLETI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60720" y="585216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800" b="1" i="0">
                <a:solidFill>
                  <a:srgbClr val="DFB16C"/>
                </a:solidFill>
                <a:latin typeface="Arial Black"/>
              </a:rPr>
              <a:t>6.686,25 EUR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38160" y="1783080"/>
            <a:ext cx="3703320" cy="4572000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8138160" y="1783080"/>
            <a:ext cx="3703320" cy="4572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275320" y="1874520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A1428"/>
                </a:solidFill>
                <a:latin typeface="Arial Black"/>
              </a:rPr>
              <a:t>TOP NIKE (mix custom)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75320" y="2423160"/>
            <a:ext cx="3429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KIT GARA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75320" y="2624328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1">
                <a:solidFill>
                  <a:srgbClr val="F5F7FA"/>
                </a:solidFill>
                <a:latin typeface="Calibri"/>
              </a:rPr>
              <a:t>Striped Division V o Park Derby IV + Park III + Matchfit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75320" y="2880360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A8B5CC"/>
                </a:solidFill>
                <a:latin typeface="Calibri"/>
              </a:rPr>
              <a:t>Atleta: 47,56 EUR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12680" y="2880360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FF6B35"/>
                </a:solidFill>
                <a:latin typeface="Arial Black"/>
              </a:rPr>
              <a:t>1.189,00 EUR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75320" y="3200400"/>
            <a:ext cx="3429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TUTA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75320" y="3401568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1">
                <a:solidFill>
                  <a:srgbClr val="F5F7FA"/>
                </a:solidFill>
                <a:latin typeface="Calibri"/>
              </a:rPr>
              <a:t>Academy Pro 24 Drill Top + Pant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75320" y="3657600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A8B5CC"/>
                </a:solidFill>
                <a:latin typeface="Calibri"/>
              </a:rPr>
              <a:t>Atleta: 73,92 EUR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12680" y="3657600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FF6B35"/>
                </a:solidFill>
                <a:latin typeface="Arial Black"/>
              </a:rPr>
              <a:t>1.848,00 EUR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75320" y="3977640"/>
            <a:ext cx="3429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GIACCA INVERNALE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75320" y="4178808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1">
                <a:solidFill>
                  <a:srgbClr val="F5F7FA"/>
                </a:solidFill>
                <a:latin typeface="Calibri"/>
              </a:rPr>
              <a:t>Club Stadium Parka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75320" y="4434840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A8B5CC"/>
                </a:solidFill>
                <a:latin typeface="Calibri"/>
              </a:rPr>
              <a:t>Atleta: 163,96 EUR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012680" y="4434840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FF6B35"/>
                </a:solidFill>
                <a:latin typeface="Arial Black"/>
              </a:rPr>
              <a:t>4.099,00 EUR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75320" y="4754880"/>
            <a:ext cx="3429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DFB16C"/>
                </a:solidFill>
                <a:latin typeface="Arial Black"/>
              </a:rPr>
              <a:t>ANTIVENTO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75320" y="4956048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1">
                <a:solidFill>
                  <a:srgbClr val="F5F7FA"/>
                </a:solidFill>
                <a:latin typeface="Calibri"/>
              </a:rPr>
              <a:t>Storm-Fit Academy Pro 24 Rain Jacket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75320" y="5212080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A8B5CC"/>
                </a:solidFill>
                <a:latin typeface="Calibri"/>
              </a:rPr>
              <a:t>Atleta: 80,40 EUR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012680" y="5212080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FF6B35"/>
                </a:solidFill>
                <a:latin typeface="Arial Black"/>
              </a:rPr>
              <a:t>2.010,00 EUR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229600" y="5760720"/>
            <a:ext cx="3520440" cy="36576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275320" y="585216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DFB16C"/>
                </a:solidFill>
                <a:latin typeface="Arial Black"/>
              </a:rPr>
              <a:t>TOTALE 25 ATLETI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555480" y="585216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800" b="1" i="0">
                <a:solidFill>
                  <a:srgbClr val="FF6B35"/>
                </a:solidFill>
                <a:latin typeface="Arial Black"/>
              </a:rPr>
              <a:t>9.146,00 EUR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1">
                <a:solidFill>
                  <a:srgbClr val="A8B5CC"/>
                </a:solidFill>
                <a:latin typeface="Calibri"/>
              </a:rPr>
              <a:t>Stime IVA incluse — sconti rilevati 27/06/2026. Costo impianto ricamo (~30 EUR una tantum) escluso. Spedizione ~10-20 EUR esclusa.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DFB16C"/>
                </a:solidFill>
                <a:latin typeface="Arial Black"/>
              </a:rPr>
              <a:t>16  ·  NOTE OPERATIVE + RACCOMANDAZIONE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457200" cy="73152"/>
          </a:xfrm>
          <a:prstGeom prst="rect">
            <a:avLst/>
          </a:prstGeom>
          <a:solidFill>
            <a:srgbClr val="DFB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F5F7FA"/>
                </a:solidFill>
                <a:latin typeface="Arial Black"/>
              </a:rPr>
              <a:t>Cosa fare ora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1155680" cy="1645920"/>
          </a:xfrm>
          <a:prstGeom prst="rect">
            <a:avLst/>
          </a:prstGeom>
          <a:solidFill>
            <a:srgbClr val="21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09728" cy="1645920"/>
          </a:xfrm>
          <a:prstGeom prst="rect">
            <a:avLst/>
          </a:prstGeom>
          <a:solidFill>
            <a:srgbClr val="4AC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4AC06E"/>
                </a:solidFill>
                <a:latin typeface="Arial Black"/>
              </a:rPr>
              <a:t>RACCOMANDAZIONE OPERATIVA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48840"/>
            <a:ext cx="107899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F5F7FA"/>
                </a:solidFill>
                <a:latin typeface="Calibri"/>
              </a:rPr>
              <a:t>ADIDAS scenario RACCOMANDATO: Striped 24 IW2149 (gara) + Tiro 24 (tuta) + Tiro 24 Winter (giacca) + Tiro 26 League Windbreaker (antivento, unico modello con rosso E navy a catalogo simultaneamente). Brand globale, strisce verticali vere, palette navy+rosso coerente con Orbassano. Costo ~5.500-6.200 EUR per 25 atleti completi, ~+1.500/+2.000 EUR vs scenario Joma attuale.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118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DFB16C"/>
                </a:solidFill>
                <a:latin typeface="Arial Black"/>
              </a:rPr>
              <a:t>NOTE OPERATIVE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977639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DFB16C"/>
                </a:solidFill>
                <a:latin typeface="Arial Black"/>
              </a:rPr>
              <a:t>Sconti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3977639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Saldi estivi 11teamsports attivi al 27/06/2026 (-38/-60%). Non garantiti dopo fine luglio — chiamare per quotazione formale.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97679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DFB16C"/>
                </a:solidFill>
                <a:latin typeface="Arial Black"/>
              </a:rPr>
              <a:t>Sconto volume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4297679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Sopra 10 pz scatta tipicamente sconto squadra aggiuntivo -5/-8%. Per 25 pz si rientra ampiamente — chiedere preventivo B2B.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617719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DFB16C"/>
                </a:solidFill>
                <a:latin typeface="Arial Black"/>
              </a:rPr>
              <a:t>Lead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4617719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Capi a stock + personalizzazione: 3-5 settimane. Custom: 30-60 giorni. Ordinare entro fine luglio 2026 per stagione 2026/27.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937759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DFB16C"/>
                </a:solidFill>
                <a:latin typeface="Arial Black"/>
              </a:rPr>
              <a:t>Maglie portiere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4937759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Aggiungere 4 maglie portiere (manica lunga Tiro 24 GK Competition) ~+5-10 EUR/pezzo → +20-40 EUR sul totale gara.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257799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DFB16C"/>
                </a:solidFill>
                <a:latin typeface="Arial Black"/>
              </a:rPr>
              <a:t>Personalizzazione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5257799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Listino TeamSport-iD: numero 1,50-3,00 EUR · nome 2,00-3,50 EUR · logo small 2,00 EUR · logo large 2,90 EUR. Aggiungere impianto ricamo logo ~25-40 EUR una tantum.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577839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DFB16C"/>
                </a:solidFill>
                <a:latin typeface="Arial Black"/>
              </a:rPr>
              <a:t>Patch LND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5577839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Patch ufficiale campionato Prima Categoria fornita GRATIS dal Comitato Regionale Piemonte (principio Serie D conferma uguale — chiamare per conferma).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98932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DFB16C"/>
                </a:solidFill>
                <a:latin typeface="Arial Black"/>
              </a:rPr>
              <a:t>PER PREVENTIVI FORMALI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F5F7FA"/>
                </a:solidFill>
                <a:latin typeface="Calibri"/>
              </a:rPr>
              <a:t>·  ADIDAS Nord Ovest: Cosimo Pizzolante (Collegno TO) — info@cospiz.com — 335 5349896    ·  11teamsports.it B2B: chat sito + email IT    ·  TeamSport-iD (Lodi): info@teamsport-id.com — 0371 476136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4cde0bb8-21e0-4ae3-9906-7ac25165b779}" enabled="1" method="Privileged" siteId="{d852d5cd-724c-4128-8812-ffa5db3f850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3216</Words>
  <Application>Microsoft Office PowerPoint</Application>
  <PresentationFormat>Widescreen</PresentationFormat>
  <Paragraphs>793</Paragraphs>
  <Slides>18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18</vt:i4>
      </vt:variant>
    </vt:vector>
  </HeadingPairs>
  <TitlesOfParts>
    <vt:vector size="23" baseType="lpstr">
      <vt:lpstr>Arial</vt:lpstr>
      <vt:lpstr>Arial Black</vt:lpstr>
      <vt:lpstr>Calibri</vt:lpstr>
      <vt:lpstr>Consolas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LUCA PORFIDO (EXTERNAL)</cp:lastModifiedBy>
  <cp:revision>4</cp:revision>
  <dcterms:created xsi:type="dcterms:W3CDTF">2013-01-27T09:14:16Z</dcterms:created>
  <dcterms:modified xsi:type="dcterms:W3CDTF">2026-06-27T19:00:19Z</dcterms:modified>
  <cp:category/>
</cp:coreProperties>
</file>